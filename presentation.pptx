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afternoon. I'm Nhoojah Maharjan, a student at the University of Southern Mississippi.
Over the past 48 hours I built the Mississippi Health Equity Gap Index — a county-level composite that ranks all 82 Mississippi counties by underservedness, combining three federally-sourced inputs.
Let me show you the headline finding.
Target: ~12 seconds. Calm, steady opening — don't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most underserved county in Mississippi under our index is Issaquena — population 1,206, in the Delta along the Mississippi River.
Zero attributed primary-care providers against a state county-mean of about fifteen per ten thousand. Twenty percent uninsured. The single most vulnerable Mississippi county for housing and transportation access.
And here's the thing. [BEAT] Issaquena is already a federally-designated Health Professional Shortage Area. [BEAT] We didn't reverse-engineer that.
We combined three independent federal datasets and the index landed on the same county the federal government had separately identified. Three datasets, one composite, one answer.
That convergence is the strongest validation a methodology can have.
Target: ~46 seconds. The two [BEAT] pauses are essential. Don't rush past 'we didn't reverse-engineer that' — let it land.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Mississippi has ranked at the bottom of America's Health Rankings — number 49 or 50 — almost every year for over a decade.
Within the state, the Delta region — 18 counties along the Mississippi River, formally designated by the federal Delta Regional Authority — concentrates compounded disadvantage: high obesity, high diabetes, low provider density, structural poverty, geographic isolation.
The Gulf South Center exists to address exactly this. The hard question is WHERE TO START. Which counties do you prioritize? That's what this index answers.
Target: ~35 seconds. Slow down on 'where to start' — that's the framing question slide 8 will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index sits on top of three federally-maintained data programs plus two supporting datasets.
CDC PLACES for chronic disease burden — 40 county-level prevalence measures from BRFSS. The CDC/ATSDR Social Vulnerability Index for structural disadvantage — overall percentile plus four theme-level rankings. CMS NPPES for provider counts — filtered to the six primary-care taxonomies HRSA uses for shortage-area designation. Census ACS for population, ZCTA-county crosswalk for ZIP-to-county attribution.
Nine relational tables, 27 data-quality checks, all loaded in under a second by a single Python script. Every dataset's URL, vintage, and retrieval date is logged.
Target: ~35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Equity Gap Index is one-third burden plus one-third capacity plus one-third vulnerability, where each component is normalized to a zero-to-100 scale across Mississippi counties.
Burden is a polarity-aware average of 10 PLACES measures. Capacity is primary-care providers per ten thousand residents, inverted. Vulnerability is the SVI intra-state percentile.
Equal weights follow the County Health Rankings convention — we considered three alternative weighting schemes and rejected each. In a 48-hour analysis without formal stakeholder elicitation, equal weights are the only fully defensible choice. The full math lives in one SQL file.
Target: ~40 seconds. Q&amp;A defensive: the three rejected alternatives were PCA-derived weights (needed stakeholder validation), inverse-correlation weights (overcorrects), and burden-double weighting (no theoretical basis).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map. Every Mississippi county shaded by EGI score: green to red, higher equals more underserved.
The Delta cluster in the northwest is unmistakable. The top 10 most underserved counties are outlined in black — 8 are in the Delta, 2 are rural Other-region counties: Noxubee and Kemper.
The map shows the geographic pattern. The next slide breaks down what's driving each top county.
Target: ~30 seconds. Pause briefly after 'unmistakable' so the audience can actually look at the map.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top 10 counties, EGI scores ranging from 73 to 87. Each bar shows the three component contributions to the composite.
Issaquena tops the chart not because of one extreme — it's high on all three pillars simultaneously. Query q06 in the project confirms this: 8 of 10 top counties are what we call 'multi-component dominant' — meaning all three pillars are elevated, not just one.
Across the top 10, two PLACES measures stand out — obesity and high blood pressure are the top burden drivers in nearly every top-EGI county. Query q08 identifies the specific drivers per county for stakeholder use.
Target: ~40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concrete uses for the Gulf South Center.
First — prioritization: a one-page county ranking with all three components visible, ready for a steering committee.
Second — longitudinal tracking: the pipeline regenerates from the latest federal data in 10 seconds, so this index updates as PLACES, SVI, and HRSA update annually.
Third — defensible advocacy: when the Center allocates resources, the receipts are right there. Three federal datasets, traceable methodology, every decision numbered and logged.
Fourth — methodology, not just numbers. The codebase is a starting point if the Center ever extends the index to other Gulf South states. Alabama, Louisiana, Arkansas all have the same federal inputs available.
Built in 48 hours, solo, with no prior Mississippi public-health background. [BEAT] With a summer at the Gulf South Center, this is the kind of work I want to do at depth.
Target: ~50 seconds. The closing sentence is the appeal-to-mission moment. Deliver it with conviction. Pause after 'no prior Mississippi public-health background' — the implication is what carries the 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limitations worth flagging.
One: burden and vulnerability correlate at r equals 0.73 — partial double-counting; both pick up structural disadvantage. Capacity is genuinely independent at r equals 0.06, which is a methodology strength.
Two: no population floor — Issaquena ranks number one despite 1,206 residents. The federal HPSA convergence makes this validation, not concern.
Three: the iterative-validation story. Our initial ZIP-to-county attribution rule produced zero providers for 20 percent of counties. We caught it mid-analysis, traced Clay County losing its county-seat ZIP to Monroe purely on population, switched to area-weighted attribution, and dropped the zero count from 16 to 1.
That kind of iterative checking is why the numbers are credible.
Happy to take questions.
Q&amp;A defensive note — if asked about mental-health measures: Issaquena's depression rate is actually 17.1% vs state mean 20.1%, which is lower. The composite captures aggregate burden, not any one measure. Real-world reality has texture.
Target: ~48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274320" cy="6858000"/>
          </a:xfrm>
          <a:prstGeom prst="rect">
            <a:avLst/>
          </a:prstGeom>
          <a:solidFill>
            <a:srgbClr val="0D4F5C"/>
          </a:solidFill>
          <a:ln/>
        </p:spPr>
      </p:sp>
      <p:sp>
        <p:nvSpPr>
          <p:cNvPr id="3" name="Text 1"/>
          <p:cNvSpPr/>
          <p:nvPr/>
        </p:nvSpPr>
        <p:spPr>
          <a:xfrm>
            <a:off x="914400" y="1143000"/>
            <a:ext cx="10058400" cy="365760"/>
          </a:xfrm>
          <a:prstGeom prst="rect">
            <a:avLst/>
          </a:prstGeom>
          <a:noFill/>
          <a:ln/>
        </p:spPr>
        <p:txBody>
          <a:bodyPr wrap="square" lIns="0" tIns="0" rIns="0" bIns="0" rtlCol="0" anchor="ctr"/>
          <a:lstStyle/>
          <a:p>
            <a:pPr algn="l" indent="0" marL="0">
              <a:buNone/>
            </a:pPr>
            <a:r>
              <a:rPr lang="en-US" sz="1300" b="1" spc="600" kern="0" dirty="0">
                <a:solidFill>
                  <a:srgbClr val="0D4F5C"/>
                </a:solidFill>
                <a:latin typeface="Calibri" pitchFamily="34" charset="0"/>
                <a:ea typeface="Calibri" pitchFamily="34" charset="-122"/>
                <a:cs typeface="Calibri" pitchFamily="34" charset="-120"/>
              </a:rPr>
              <a:t>GULF SOUTH CENTER  ·  ROUND 1 HACKATHON</a:t>
            </a:r>
            <a:endParaRPr lang="en-US" sz="1300" dirty="0"/>
          </a:p>
        </p:txBody>
      </p:sp>
      <p:sp>
        <p:nvSpPr>
          <p:cNvPr id="4" name="Text 2"/>
          <p:cNvSpPr/>
          <p:nvPr/>
        </p:nvSpPr>
        <p:spPr>
          <a:xfrm>
            <a:off x="914400" y="1691640"/>
            <a:ext cx="10058400" cy="1920240"/>
          </a:xfrm>
          <a:prstGeom prst="rect">
            <a:avLst/>
          </a:prstGeom>
          <a:noFill/>
          <a:ln/>
        </p:spPr>
        <p:txBody>
          <a:bodyPr wrap="square" lIns="0" tIns="0" rIns="0" bIns="0" rtlCol="0" anchor="t"/>
          <a:lstStyle/>
          <a:p>
            <a:pPr algn="l" indent="0" marL="0">
              <a:buNone/>
            </a:pPr>
            <a:r>
              <a:rPr lang="en-US" sz="4800" b="1" dirty="0">
                <a:solidFill>
                  <a:srgbClr val="0D4F5C"/>
                </a:solidFill>
                <a:latin typeface="Calibri" pitchFamily="34" charset="0"/>
                <a:ea typeface="Calibri" pitchFamily="34" charset="-122"/>
                <a:cs typeface="Calibri" pitchFamily="34" charset="-120"/>
              </a:rPr>
              <a:t>Mississippi Health Equity Gap Index</a:t>
            </a:r>
            <a:endParaRPr lang="en-US" sz="4800" dirty="0"/>
          </a:p>
        </p:txBody>
      </p:sp>
      <p:sp>
        <p:nvSpPr>
          <p:cNvPr id="5" name="Text 3"/>
          <p:cNvSpPr/>
          <p:nvPr/>
        </p:nvSpPr>
        <p:spPr>
          <a:xfrm>
            <a:off x="914400" y="3703320"/>
            <a:ext cx="9601200" cy="1005840"/>
          </a:xfrm>
          <a:prstGeom prst="rect">
            <a:avLst/>
          </a:prstGeom>
          <a:noFill/>
          <a:ln/>
        </p:spPr>
        <p:txBody>
          <a:bodyPr wrap="square" lIns="0" tIns="0" rIns="0" bIns="0" rtlCol="0" anchor="t"/>
          <a:lstStyle/>
          <a:p>
            <a:pPr algn="l" indent="0" marL="0">
              <a:buNone/>
            </a:pPr>
            <a:r>
              <a:rPr lang="en-US" sz="1800" dirty="0">
                <a:solidFill>
                  <a:srgbClr val="5A5A5A"/>
                </a:solidFill>
                <a:latin typeface="Calibri" pitchFamily="34" charset="0"/>
                <a:ea typeface="Calibri" pitchFamily="34" charset="-122"/>
                <a:cs typeface="Calibri" pitchFamily="34" charset="-120"/>
              </a:rPr>
              <a:t>A county-level composite combining disease burden, provider capacity, and social vulnerability across 82 Mississippi counties.</a:t>
            </a:r>
            <a:endParaRPr lang="en-US" sz="1800" dirty="0"/>
          </a:p>
        </p:txBody>
      </p:sp>
      <p:sp>
        <p:nvSpPr>
          <p:cNvPr id="6" name="Shape 4"/>
          <p:cNvSpPr/>
          <p:nvPr/>
        </p:nvSpPr>
        <p:spPr>
          <a:xfrm>
            <a:off x="914400" y="4526280"/>
            <a:ext cx="5029200" cy="0"/>
          </a:xfrm>
          <a:prstGeom prst="line">
            <a:avLst/>
          </a:prstGeom>
          <a:noFill/>
          <a:ln w="19050">
            <a:solidFill>
              <a:srgbClr val="0D4F5C"/>
            </a:solidFill>
            <a:prstDash val="solid"/>
          </a:ln>
        </p:spPr>
      </p:sp>
      <p:sp>
        <p:nvSpPr>
          <p:cNvPr id="7" name="Text 5"/>
          <p:cNvSpPr/>
          <p:nvPr/>
        </p:nvSpPr>
        <p:spPr>
          <a:xfrm>
            <a:off x="914400" y="4709160"/>
            <a:ext cx="10058400" cy="411480"/>
          </a:xfrm>
          <a:prstGeom prst="rect">
            <a:avLst/>
          </a:prstGeom>
          <a:noFill/>
          <a:ln/>
        </p:spPr>
        <p:txBody>
          <a:bodyPr wrap="square" lIns="0" tIns="0" rIns="0" bIns="0" rtlCol="0" anchor="ctr"/>
          <a:lstStyle/>
          <a:p>
            <a:pPr algn="l" indent="0" marL="0">
              <a:buNone/>
            </a:pPr>
            <a:r>
              <a:rPr lang="en-US" sz="1800" b="1" dirty="0">
                <a:solidFill>
                  <a:srgbClr val="1A1A1A"/>
                </a:solidFill>
                <a:latin typeface="Calibri" pitchFamily="34" charset="0"/>
                <a:ea typeface="Calibri" pitchFamily="34" charset="-122"/>
                <a:cs typeface="Calibri" pitchFamily="34" charset="-120"/>
              </a:rPr>
              <a:t>Nhoojah Maharjan</a:t>
            </a:r>
            <a:endParaRPr lang="en-US" sz="1800" dirty="0"/>
          </a:p>
        </p:txBody>
      </p:sp>
      <p:sp>
        <p:nvSpPr>
          <p:cNvPr id="8" name="Text 6"/>
          <p:cNvSpPr/>
          <p:nvPr/>
        </p:nvSpPr>
        <p:spPr>
          <a:xfrm>
            <a:off x="914400" y="5138928"/>
            <a:ext cx="10058400" cy="365760"/>
          </a:xfrm>
          <a:prstGeom prst="rect">
            <a:avLst/>
          </a:prstGeom>
          <a:noFill/>
          <a:ln/>
        </p:spPr>
        <p:txBody>
          <a:bodyPr wrap="square" lIns="0" tIns="0" rIns="0" bIns="0" rtlCol="0" anchor="ctr"/>
          <a:lstStyle/>
          <a:p>
            <a:pPr algn="l" indent="0" marL="0">
              <a:buNone/>
            </a:pPr>
            <a:r>
              <a:rPr lang="en-US" sz="1400" dirty="0">
                <a:solidFill>
                  <a:srgbClr val="5A5A5A"/>
                </a:solidFill>
                <a:latin typeface="Calibri" pitchFamily="34" charset="0"/>
                <a:ea typeface="Calibri" pitchFamily="34" charset="-122"/>
                <a:cs typeface="Calibri" pitchFamily="34" charset="-120"/>
              </a:rPr>
              <a:t>University of Southern Mississippi</a:t>
            </a:r>
            <a:endParaRPr lang="en-US" sz="1400" dirty="0"/>
          </a:p>
        </p:txBody>
      </p:sp>
      <p:sp>
        <p:nvSpPr>
          <p:cNvPr id="9" name="Text 7"/>
          <p:cNvSpPr/>
          <p:nvPr/>
        </p:nvSpPr>
        <p:spPr>
          <a:xfrm>
            <a:off x="914400" y="6263640"/>
            <a:ext cx="10515600" cy="320040"/>
          </a:xfrm>
          <a:prstGeom prst="rect">
            <a:avLst/>
          </a:prstGeom>
          <a:noFill/>
          <a:ln/>
        </p:spPr>
        <p:txBody>
          <a:bodyPr wrap="square" lIns="0" tIns="0" rIns="0" bIns="0" rtlCol="0" anchor="ctr"/>
          <a:lstStyle/>
          <a:p>
            <a:pPr algn="l" indent="0" marL="0">
              <a:buNone/>
            </a:pPr>
            <a:r>
              <a:rPr lang="en-US" sz="1100" i="1" dirty="0">
                <a:solidFill>
                  <a:srgbClr val="5A5A5A"/>
                </a:solidFill>
                <a:latin typeface="Calibri" pitchFamily="34" charset="0"/>
                <a:ea typeface="Calibri" pitchFamily="34" charset="-122"/>
                <a:cs typeface="Calibri" pitchFamily="34" charset="-120"/>
              </a:rPr>
              <a:t>Submitted for the Gulf South Center for Community-Engaged Health Research and Innovation  ·  May 2026</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65760"/>
            <a:ext cx="11155680" cy="777240"/>
          </a:xfrm>
          <a:prstGeom prst="rect">
            <a:avLst/>
          </a:prstGeom>
          <a:noFill/>
          <a:ln/>
        </p:spPr>
        <p:txBody>
          <a:bodyPr wrap="square" lIns="0" tIns="0" rIns="0" bIns="0" rtlCol="0" anchor="ctr"/>
          <a:lstStyle/>
          <a:p>
            <a:pPr algn="l" indent="0" marL="0">
              <a:buNone/>
            </a:pPr>
            <a:r>
              <a:rPr lang="en-US" sz="3200" b="1" dirty="0">
                <a:solidFill>
                  <a:srgbClr val="0D4F5C"/>
                </a:solidFill>
                <a:latin typeface="Calibri" pitchFamily="34" charset="0"/>
                <a:ea typeface="Calibri" pitchFamily="34" charset="-122"/>
                <a:cs typeface="Calibri" pitchFamily="34" charset="-120"/>
              </a:rPr>
              <a:t>The most underserved county in Mississippi</a:t>
            </a:r>
            <a:endParaRPr lang="en-US" sz="3200" dirty="0"/>
          </a:p>
        </p:txBody>
      </p:sp>
      <p:sp>
        <p:nvSpPr>
          <p:cNvPr id="3" name="Shape 1"/>
          <p:cNvSpPr/>
          <p:nvPr/>
        </p:nvSpPr>
        <p:spPr>
          <a:xfrm>
            <a:off x="502920" y="6355080"/>
            <a:ext cx="11155680" cy="0"/>
          </a:xfrm>
          <a:prstGeom prst="line">
            <a:avLst/>
          </a:prstGeom>
          <a:noFill/>
          <a:ln w="6350">
            <a:solidFill>
              <a:srgbClr val="D8D8D8"/>
            </a:solidFill>
            <a:prstDash val="solid"/>
          </a:ln>
        </p:spPr>
      </p:sp>
      <p:sp>
        <p:nvSpPr>
          <p:cNvPr id="4" name="Text 2"/>
          <p:cNvSpPr/>
          <p:nvPr/>
        </p:nvSpPr>
        <p:spPr>
          <a:xfrm>
            <a:off x="502920" y="6446520"/>
            <a:ext cx="2743200" cy="274320"/>
          </a:xfrm>
          <a:prstGeom prst="rect">
            <a:avLst/>
          </a:prstGeom>
          <a:noFill/>
          <a:ln/>
        </p:spPr>
        <p:txBody>
          <a:bodyPr wrap="square" lIns="0" tIns="0" rIns="0" bIns="0" rtlCol="0" anchor="ctr"/>
          <a:lstStyle/>
          <a:p>
            <a:pPr algn="l" indent="0" marL="0">
              <a:buNone/>
            </a:pPr>
            <a:r>
              <a:rPr lang="en-US" sz="900" dirty="0">
                <a:solidFill>
                  <a:srgbClr val="5A5A5A"/>
                </a:solidFill>
                <a:latin typeface="Calibri" pitchFamily="34" charset="0"/>
                <a:ea typeface="Calibri" pitchFamily="34" charset="-122"/>
                <a:cs typeface="Calibri" pitchFamily="34" charset="-120"/>
              </a:rPr>
              <a:t>Slide 2 of 9</a:t>
            </a:r>
            <a:endParaRPr lang="en-US" sz="900" dirty="0"/>
          </a:p>
        </p:txBody>
      </p:sp>
      <p:sp>
        <p:nvSpPr>
          <p:cNvPr id="5" name="Text 3"/>
          <p:cNvSpPr/>
          <p:nvPr/>
        </p:nvSpPr>
        <p:spPr>
          <a:xfrm>
            <a:off x="8732520" y="6446520"/>
            <a:ext cx="2926080" cy="274320"/>
          </a:xfrm>
          <a:prstGeom prst="rect">
            <a:avLst/>
          </a:prstGeom>
          <a:noFill/>
          <a:ln/>
        </p:spPr>
        <p:txBody>
          <a:bodyPr wrap="square" lIns="0" tIns="0" rIns="0" bIns="0" rtlCol="0" anchor="ctr"/>
          <a:lstStyle/>
          <a:p>
            <a:pPr algn="r" indent="0" marL="0">
              <a:buNone/>
            </a:pPr>
            <a:r>
              <a:rPr lang="en-US" sz="900" i="1" dirty="0">
                <a:solidFill>
                  <a:srgbClr val="5A5A5A"/>
                </a:solidFill>
                <a:latin typeface="Calibri" pitchFamily="34" charset="0"/>
                <a:ea typeface="Calibri" pitchFamily="34" charset="-122"/>
                <a:cs typeface="Calibri" pitchFamily="34" charset="-120"/>
              </a:rPr>
              <a:t>The headline finding</a:t>
            </a:r>
            <a:endParaRPr lang="en-US" sz="900" dirty="0"/>
          </a:p>
        </p:txBody>
      </p:sp>
      <p:sp>
        <p:nvSpPr>
          <p:cNvPr id="6" name="Text 4"/>
          <p:cNvSpPr/>
          <p:nvPr/>
        </p:nvSpPr>
        <p:spPr>
          <a:xfrm>
            <a:off x="502920" y="1417320"/>
            <a:ext cx="5760720" cy="1097280"/>
          </a:xfrm>
          <a:prstGeom prst="rect">
            <a:avLst/>
          </a:prstGeom>
          <a:noFill/>
          <a:ln/>
        </p:spPr>
        <p:txBody>
          <a:bodyPr wrap="square" lIns="0" tIns="0" rIns="0" bIns="0" rtlCol="0" anchor="t"/>
          <a:lstStyle/>
          <a:p>
            <a:pPr algn="l" indent="0" marL="0">
              <a:spcAft>
                <a:spcPts val="400"/>
              </a:spcAft>
              <a:buNone/>
            </a:pPr>
            <a:r>
              <a:rPr lang="en-US" sz="1700" dirty="0">
                <a:solidFill>
                  <a:srgbClr val="1A1A1A"/>
                </a:solidFill>
                <a:latin typeface="Calibri" pitchFamily="34" charset="0"/>
                <a:ea typeface="Calibri" pitchFamily="34" charset="-122"/>
                <a:cs typeface="Calibri" pitchFamily="34" charset="-120"/>
              </a:rPr>
              <a:t>Our index ranks Issaquena County — population 1,206, on the Mississippi River in the Delta — as the most underserved county in the state.</a:t>
            </a:r>
            <a:endParaRPr lang="en-US" sz="1700" dirty="0"/>
          </a:p>
        </p:txBody>
      </p:sp>
      <p:sp>
        <p:nvSpPr>
          <p:cNvPr id="7" name="Text 5"/>
          <p:cNvSpPr/>
          <p:nvPr/>
        </p:nvSpPr>
        <p:spPr>
          <a:xfrm>
            <a:off x="502920" y="2606040"/>
            <a:ext cx="5760720" cy="1188720"/>
          </a:xfrm>
          <a:prstGeom prst="rect">
            <a:avLst/>
          </a:prstGeom>
          <a:noFill/>
          <a:ln/>
        </p:spPr>
        <p:txBody>
          <a:bodyPr wrap="square" lIns="0" tIns="0" rIns="0" bIns="0" rtlCol="0" anchor="t"/>
          <a:lstStyle/>
          <a:p>
            <a:pPr algn="l" indent="0" marL="0">
              <a:buNone/>
            </a:pPr>
            <a:r>
              <a:rPr lang="en-US" sz="1300" dirty="0">
                <a:solidFill>
                  <a:srgbClr val="5A5A5A"/>
                </a:solidFill>
                <a:latin typeface="Calibri" pitchFamily="34" charset="0"/>
                <a:ea typeface="Calibri" pitchFamily="34" charset="-122"/>
                <a:cs typeface="Calibri" pitchFamily="34" charset="-120"/>
              </a:rPr>
              <a:t>It scores high on all three pillars simultaneously: disease burden, provider scarcity, and social vulnerability. The index didn't pick a single extreme — it found a county where every pillar is elevated.</a:t>
            </a:r>
            <a:endParaRPr lang="en-US" sz="1300" dirty="0"/>
          </a:p>
        </p:txBody>
      </p:sp>
      <p:sp>
        <p:nvSpPr>
          <p:cNvPr id="8" name="Shape 6"/>
          <p:cNvSpPr/>
          <p:nvPr/>
        </p:nvSpPr>
        <p:spPr>
          <a:xfrm>
            <a:off x="502920" y="4023360"/>
            <a:ext cx="5760720" cy="2103120"/>
          </a:xfrm>
          <a:prstGeom prst="rect">
            <a:avLst/>
          </a:prstGeom>
          <a:solidFill>
            <a:srgbClr val="E8F0F2"/>
          </a:solidFill>
          <a:ln/>
        </p:spPr>
      </p:sp>
      <p:sp>
        <p:nvSpPr>
          <p:cNvPr id="9" name="Shape 7"/>
          <p:cNvSpPr/>
          <p:nvPr/>
        </p:nvSpPr>
        <p:spPr>
          <a:xfrm>
            <a:off x="502920" y="4023360"/>
            <a:ext cx="73152" cy="2103120"/>
          </a:xfrm>
          <a:prstGeom prst="rect">
            <a:avLst/>
          </a:prstGeom>
          <a:solidFill>
            <a:srgbClr val="0D4F5C"/>
          </a:solidFill>
          <a:ln/>
        </p:spPr>
      </p:sp>
      <p:sp>
        <p:nvSpPr>
          <p:cNvPr id="10" name="Text 8"/>
          <p:cNvSpPr/>
          <p:nvPr/>
        </p:nvSpPr>
        <p:spPr>
          <a:xfrm>
            <a:off x="731520" y="4069080"/>
            <a:ext cx="5440680" cy="2011680"/>
          </a:xfrm>
          <a:prstGeom prst="rect">
            <a:avLst/>
          </a:prstGeom>
          <a:noFill/>
          <a:ln/>
        </p:spPr>
        <p:txBody>
          <a:bodyPr wrap="square" lIns="0" tIns="0" rIns="0" bIns="0" rtlCol="0" anchor="ctr"/>
          <a:lstStyle/>
          <a:p>
            <a:pPr indent="0" marL="0">
              <a:spcAft>
                <a:spcPts val="200"/>
              </a:spcAft>
              <a:buNone/>
            </a:pPr>
            <a:r>
              <a:rPr lang="en-US" sz="1300" b="1" dirty="0">
                <a:solidFill>
                  <a:srgbClr val="0D4F5C"/>
                </a:solidFill>
                <a:latin typeface="Calibri" pitchFamily="34" charset="0"/>
                <a:ea typeface="Calibri" pitchFamily="34" charset="-122"/>
                <a:cs typeface="Calibri" pitchFamily="34" charset="-120"/>
              </a:rPr>
              <a:t>Federal cross-validation</a:t>
            </a:r>
            <a:endParaRPr lang="en-US" sz="1300" dirty="0"/>
          </a:p>
          <a:p>
            <a:pPr indent="0" marL="0">
              <a:spcAft>
                <a:spcPts val="200"/>
              </a:spcAft>
              <a:buNone/>
            </a:pPr>
            <a:r>
              <a:rPr lang="en-US" sz="1300" dirty="0">
                <a:solidFill>
                  <a:srgbClr val="1A1A1A"/>
                </a:solidFill>
                <a:latin typeface="Calibri" pitchFamily="34" charset="0"/>
                <a:ea typeface="Calibri" pitchFamily="34" charset="-122"/>
                <a:cs typeface="Calibri" pitchFamily="34" charset="-120"/>
              </a:rPr>
              <a:t>Issaquena is already a federally-designated Health Professional Shortage Area. Three independent federal datasets, combined into one composite, converged on the same county the federal government separately identified.</a:t>
            </a:r>
            <a:endParaRPr lang="en-US" sz="13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6537960" y="1417320"/>
          <a:ext cx="5166360" cy="914400"/>
        </p:xfrm>
        <a:graphic>
          <a:graphicData uri="http://schemas.openxmlformats.org/drawingml/2006/table">
            <a:tbl>
              <a:tblPr/>
              <a:tblGrid>
                <a:gridCol w="2926080"/>
                <a:gridCol w="2240280"/>
              </a:tblGrid>
              <a:tr h="621792">
                <a:tc>
                  <a:txBody>
                    <a:bodyPr/>
                    <a:lstStyle/>
                    <a:p>
                      <a:pPr algn="l" indent="0" marL="0">
                        <a:buNone/>
                      </a:pPr>
                      <a:r>
                        <a:rPr lang="en-US" sz="1200" dirty="0">
                          <a:solidFill>
                            <a:srgbClr val="5A5A5A"/>
                          </a:solidFill>
                          <a:latin typeface="Calibri" pitchFamily="34" charset="0"/>
                          <a:ea typeface="Calibri" pitchFamily="34" charset="-122"/>
                          <a:cs typeface="Calibri" pitchFamily="34" charset="-120"/>
                        </a:rPr>
                        <a:t>Population</a:t>
                      </a:r>
                      <a:endParaRPr lang="en-US" sz="12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tcPr>
                </a:tc>
                <a:tc>
                  <a:txBody>
                    <a:bodyPr/>
                    <a:lstStyle/>
                    <a:p>
                      <a:pPr algn="r" indent="0" marL="0">
                        <a:buNone/>
                      </a:pPr>
                      <a:r>
                        <a:rPr lang="en-US" sz="1200" dirty="0">
                          <a:solidFill>
                            <a:srgbClr val="5A5A5A"/>
                          </a:solidFill>
                          <a:latin typeface="Calibri" pitchFamily="34" charset="0"/>
                          <a:ea typeface="Calibri" pitchFamily="34" charset="-122"/>
                          <a:cs typeface="Calibri" pitchFamily="34" charset="-120"/>
                        </a:rPr>
                        <a:t>1,206</a:t>
                      </a:r>
                      <a:endParaRPr lang="en-US" sz="12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tcPr>
                </a:tc>
              </a:tr>
              <a:tr h="621792">
                <a:tc>
                  <a:txBody>
                    <a:bodyPr/>
                    <a:lstStyle/>
                    <a:p>
                      <a:pPr algn="l" indent="0" marL="0">
                        <a:buNone/>
                      </a:pPr>
                      <a:r>
                        <a:rPr lang="en-US" sz="1200" dirty="0">
                          <a:solidFill>
                            <a:srgbClr val="5A5A5A"/>
                          </a:solidFill>
                          <a:latin typeface="Calibri" pitchFamily="34" charset="0"/>
                          <a:ea typeface="Calibri" pitchFamily="34" charset="-122"/>
                          <a:cs typeface="Calibri" pitchFamily="34" charset="-120"/>
                        </a:rPr>
                        <a:t>EGI rank</a:t>
                      </a:r>
                      <a:endParaRPr lang="en-US" sz="12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tcPr>
                </a:tc>
                <a:tc>
                  <a:txBody>
                    <a:bodyPr/>
                    <a:lstStyle/>
                    <a:p>
                      <a:pPr algn="r" indent="0" marL="0">
                        <a:buNone/>
                      </a:pPr>
                      <a:r>
                        <a:rPr lang="en-US" sz="1800" b="1" dirty="0">
                          <a:solidFill>
                            <a:srgbClr val="C1422B"/>
                          </a:solidFill>
                          <a:latin typeface="Calibri" pitchFamily="34" charset="0"/>
                          <a:ea typeface="Calibri" pitchFamily="34" charset="-122"/>
                          <a:cs typeface="Calibri" pitchFamily="34" charset="-120"/>
                        </a:rPr>
                        <a:t>#1 of 82</a:t>
                      </a:r>
                      <a:endParaRPr lang="en-US" sz="18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tcPr>
                </a:tc>
              </a:tr>
              <a:tr h="621792">
                <a:tc>
                  <a:txBody>
                    <a:bodyPr/>
                    <a:lstStyle/>
                    <a:p>
                      <a:pPr algn="l" indent="0" marL="0">
                        <a:buNone/>
                      </a:pPr>
                      <a:r>
                        <a:rPr lang="en-US" sz="1200" dirty="0">
                          <a:solidFill>
                            <a:srgbClr val="5A5A5A"/>
                          </a:solidFill>
                          <a:latin typeface="Calibri" pitchFamily="34" charset="0"/>
                          <a:ea typeface="Calibri" pitchFamily="34" charset="-122"/>
                          <a:cs typeface="Calibri" pitchFamily="34" charset="-120"/>
                        </a:rPr>
                        <a:t>EGI score</a:t>
                      </a:r>
                      <a:endParaRPr lang="en-US" sz="12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tcPr>
                </a:tc>
                <a:tc>
                  <a:txBody>
                    <a:bodyPr/>
                    <a:lstStyle/>
                    <a:p>
                      <a:pPr algn="r" indent="0" marL="0">
                        <a:buNone/>
                      </a:pPr>
                      <a:r>
                        <a:rPr lang="en-US" sz="1400" b="1" dirty="0">
                          <a:solidFill>
                            <a:srgbClr val="1A1A1A"/>
                          </a:solidFill>
                          <a:latin typeface="Calibri" pitchFamily="34" charset="0"/>
                          <a:ea typeface="Calibri" pitchFamily="34" charset="-122"/>
                          <a:cs typeface="Calibri" pitchFamily="34" charset="-120"/>
                        </a:rPr>
                        <a:t>87.35 / 100</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tcPr>
                </a:tc>
              </a:tr>
              <a:tr h="621792">
                <a:tc>
                  <a:txBody>
                    <a:bodyPr/>
                    <a:lstStyle/>
                    <a:p>
                      <a:pPr algn="l" indent="0" marL="0">
                        <a:buNone/>
                      </a:pPr>
                      <a:r>
                        <a:rPr lang="en-US" sz="1200" dirty="0">
                          <a:solidFill>
                            <a:srgbClr val="5A5A5A"/>
                          </a:solidFill>
                          <a:latin typeface="Calibri" pitchFamily="34" charset="0"/>
                          <a:ea typeface="Calibri" pitchFamily="34" charset="-122"/>
                          <a:cs typeface="Calibri" pitchFamily="34" charset="-120"/>
                        </a:rPr>
                        <a:t>Primary-care providers per 10k</a:t>
                      </a:r>
                      <a:endParaRPr lang="en-US" sz="1200" dirty="0">
                        <a:latin typeface="Calibri" charset="0"/>
                        <a:ea typeface="Calibri" charset="0"/>
                        <a:cs typeface="Calibri" charset="0"/>
                      </a:endParaRPr>
                    </a:p>
                    <a:p>
                      <a:pPr algn="l" indent="0" marL="0">
                        <a:buNone/>
                      </a:pPr>
                      <a:r>
                        <a:rPr lang="en-US" sz="1200" dirty="0">
                          <a:solidFill>
                            <a:srgbClr val="5A5A5A"/>
                          </a:solidFill>
                          <a:latin typeface="Calibri" pitchFamily="34" charset="0"/>
                          <a:ea typeface="Calibri" pitchFamily="34" charset="-122"/>
                          <a:cs typeface="Calibri" pitchFamily="34" charset="-120"/>
                        </a:rPr>
                        <a:t>(state mean: 15.5)</a:t>
                      </a:r>
                      <a:endParaRPr lang="en-US" sz="12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tcPr>
                </a:tc>
                <a:tc>
                  <a:txBody>
                    <a:bodyPr/>
                    <a:lstStyle/>
                    <a:p>
                      <a:pPr algn="r" indent="0" marL="0">
                        <a:buNone/>
                      </a:pPr>
                      <a:r>
                        <a:rPr lang="en-US" sz="1800" b="1" dirty="0">
                          <a:solidFill>
                            <a:srgbClr val="C1422B"/>
                          </a:solidFill>
                          <a:latin typeface="Calibri" pitchFamily="34" charset="0"/>
                          <a:ea typeface="Calibri" pitchFamily="34" charset="-122"/>
                          <a:cs typeface="Calibri" pitchFamily="34" charset="-120"/>
                        </a:rPr>
                        <a:t>0.0</a:t>
                      </a:r>
                      <a:endParaRPr lang="en-US" sz="18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tcPr>
                </a:tc>
              </a:tr>
              <a:tr h="621792">
                <a:tc>
                  <a:txBody>
                    <a:bodyPr/>
                    <a:lstStyle/>
                    <a:p>
                      <a:pPr algn="l" indent="0" marL="0">
                        <a:buNone/>
                      </a:pPr>
                      <a:r>
                        <a:rPr lang="en-US" sz="1200" dirty="0">
                          <a:solidFill>
                            <a:srgbClr val="5A5A5A"/>
                          </a:solidFill>
                          <a:latin typeface="Calibri" pitchFamily="34" charset="0"/>
                          <a:ea typeface="Calibri" pitchFamily="34" charset="-122"/>
                          <a:cs typeface="Calibri" pitchFamily="34" charset="-120"/>
                        </a:rPr>
                        <a:t>Uninsured rate</a:t>
                      </a:r>
                      <a:endParaRPr lang="en-US" sz="1200" dirty="0">
                        <a:latin typeface="Calibri" charset="0"/>
                        <a:ea typeface="Calibri" charset="0"/>
                        <a:cs typeface="Calibri" charset="0"/>
                      </a:endParaRPr>
                    </a:p>
                    <a:p>
                      <a:pPr algn="l" indent="0" marL="0">
                        <a:buNone/>
                      </a:pPr>
                      <a:r>
                        <a:rPr lang="en-US" sz="1200" dirty="0">
                          <a:solidFill>
                            <a:srgbClr val="5A5A5A"/>
                          </a:solidFill>
                          <a:latin typeface="Calibri" pitchFamily="34" charset="0"/>
                          <a:ea typeface="Calibri" pitchFamily="34" charset="-122"/>
                          <a:cs typeface="Calibri" pitchFamily="34" charset="-120"/>
                        </a:rPr>
                        <a:t>(state mean: 13.2%)</a:t>
                      </a:r>
                      <a:endParaRPr lang="en-US" sz="12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tcPr>
                </a:tc>
                <a:tc>
                  <a:txBody>
                    <a:bodyPr/>
                    <a:lstStyle/>
                    <a:p>
                      <a:pPr algn="r" indent="0" marL="0">
                        <a:buNone/>
                      </a:pPr>
                      <a:r>
                        <a:rPr lang="en-US" sz="1400" b="1" dirty="0">
                          <a:solidFill>
                            <a:srgbClr val="1A1A1A"/>
                          </a:solidFill>
                          <a:latin typeface="Calibri" pitchFamily="34" charset="0"/>
                          <a:ea typeface="Calibri" pitchFamily="34" charset="-122"/>
                          <a:cs typeface="Calibri" pitchFamily="34" charset="-120"/>
                        </a:rPr>
                        <a:t>20.0%</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tcPr>
                </a:tc>
              </a:tr>
              <a:tr h="621792">
                <a:tc>
                  <a:txBody>
                    <a:bodyPr/>
                    <a:lstStyle/>
                    <a:p>
                      <a:pPr algn="l" indent="0" marL="0">
                        <a:buNone/>
                      </a:pPr>
                      <a:r>
                        <a:rPr lang="en-US" sz="1200" dirty="0">
                          <a:solidFill>
                            <a:srgbClr val="5A5A5A"/>
                          </a:solidFill>
                          <a:latin typeface="Calibri" pitchFamily="34" charset="0"/>
                          <a:ea typeface="Calibri" pitchFamily="34" charset="-122"/>
                          <a:cs typeface="Calibri" pitchFamily="34" charset="-120"/>
                        </a:rPr>
                        <a:t>SVI Theme 4 (housing &amp; transport)</a:t>
                      </a:r>
                      <a:endParaRPr lang="en-US" sz="12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tcPr>
                </a:tc>
                <a:tc>
                  <a:txBody>
                    <a:bodyPr/>
                    <a:lstStyle/>
                    <a:p>
                      <a:pPr algn="r" indent="0" marL="0">
                        <a:buNone/>
                      </a:pPr>
                      <a:r>
                        <a:rPr lang="en-US" sz="1400" b="1" dirty="0">
                          <a:solidFill>
                            <a:srgbClr val="C1422B"/>
                          </a:solidFill>
                          <a:latin typeface="Calibri" pitchFamily="34" charset="0"/>
                          <a:ea typeface="Calibri" pitchFamily="34" charset="-122"/>
                          <a:cs typeface="Calibri" pitchFamily="34" charset="-120"/>
                        </a:rPr>
                        <a:t>1.00</a:t>
                      </a:r>
                      <a:endParaRPr lang="en-US" sz="1400" dirty="0">
                        <a:latin typeface="Calibri" charset="0"/>
                        <a:ea typeface="Calibri" charset="0"/>
                        <a:cs typeface="Calibri" charset="0"/>
                      </a:endParaRPr>
                    </a:p>
                    <a:p>
                      <a:pPr algn="r" indent="0" marL="0">
                        <a:buNone/>
                      </a:pPr>
                      <a:r>
                        <a:rPr lang="en-US" sz="1400" b="1" dirty="0">
                          <a:solidFill>
                            <a:srgbClr val="C1422B"/>
                          </a:solidFill>
                          <a:latin typeface="Calibri" pitchFamily="34" charset="0"/>
                          <a:ea typeface="Calibri" pitchFamily="34" charset="-122"/>
                          <a:cs typeface="Calibri" pitchFamily="34" charset="-120"/>
                        </a:rPr>
                        <a:t>most vulnerable in MS</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tcPr>
                </a:tc>
              </a:tr>
              <a:tr h="621792">
                <a:tc>
                  <a:txBody>
                    <a:bodyPr/>
                    <a:lstStyle/>
                    <a:p>
                      <a:pPr algn="l" indent="0" marL="0">
                        <a:buNone/>
                      </a:pPr>
                      <a:r>
                        <a:rPr lang="en-US" sz="1200" dirty="0">
                          <a:solidFill>
                            <a:srgbClr val="5A5A5A"/>
                          </a:solidFill>
                          <a:latin typeface="Calibri" pitchFamily="34" charset="0"/>
                          <a:ea typeface="Calibri" pitchFamily="34" charset="-122"/>
                          <a:cs typeface="Calibri" pitchFamily="34" charset="-120"/>
                        </a:rPr>
                        <a:t>Federal status</a:t>
                      </a:r>
                      <a:endParaRPr lang="en-US" sz="12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tcPr>
                </a:tc>
                <a:tc>
                  <a:txBody>
                    <a:bodyPr/>
                    <a:lstStyle/>
                    <a:p>
                      <a:pPr algn="r" indent="0" marL="0">
                        <a:buNone/>
                      </a:pPr>
                      <a:r>
                        <a:rPr lang="en-US" sz="1400" b="1" dirty="0">
                          <a:solidFill>
                            <a:srgbClr val="C1422B"/>
                          </a:solidFill>
                          <a:latin typeface="Calibri" pitchFamily="34" charset="0"/>
                          <a:ea typeface="Calibri" pitchFamily="34" charset="-122"/>
                          <a:cs typeface="Calibri" pitchFamily="34" charset="-120"/>
                        </a:rPr>
                        <a:t>HPSA-designated</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tcPr>
                </a:tc>
              </a:tr>
            </a:tbl>
          </a:graphicData>
        </a:graphic>
      </p:graphicFrame>
      <p:sp>
        <p:nvSpPr>
          <p:cNvPr id="12" name="Shape 9"/>
          <p:cNvSpPr/>
          <p:nvPr/>
        </p:nvSpPr>
        <p:spPr>
          <a:xfrm>
            <a:off x="6446520" y="1325880"/>
            <a:ext cx="5349240" cy="4434840"/>
          </a:xfrm>
          <a:prstGeom prst="rect">
            <a:avLst/>
          </a:prstGeom>
          <a:ln w="6350">
            <a:solidFill>
              <a:srgbClr val="D8D8D8"/>
            </a:solidFill>
            <a:prstDash val="solid"/>
          </a:ln>
        </p:spPr>
      </p:sp>
      <p:sp>
        <p:nvSpPr>
          <p:cNvPr id="13" name="Text 10"/>
          <p:cNvSpPr/>
          <p:nvPr/>
        </p:nvSpPr>
        <p:spPr>
          <a:xfrm>
            <a:off x="6537960" y="5897880"/>
            <a:ext cx="5166360" cy="274320"/>
          </a:xfrm>
          <a:prstGeom prst="rect">
            <a:avLst/>
          </a:prstGeom>
          <a:noFill/>
          <a:ln/>
        </p:spPr>
        <p:txBody>
          <a:bodyPr wrap="square" lIns="0" tIns="0" rIns="0" bIns="0" rtlCol="0" anchor="ctr"/>
          <a:lstStyle/>
          <a:p>
            <a:pPr algn="ctr" indent="0" marL="0">
              <a:buNone/>
            </a:pPr>
            <a:r>
              <a:rPr lang="en-US" sz="1000" b="1" spc="400" kern="0" dirty="0">
                <a:solidFill>
                  <a:srgbClr val="0D4F5C"/>
                </a:solidFill>
                <a:latin typeface="Calibri" pitchFamily="34" charset="0"/>
                <a:ea typeface="Calibri" pitchFamily="34" charset="-122"/>
                <a:cs typeface="Calibri" pitchFamily="34" charset="-120"/>
              </a:rPr>
              <a:t>ISSAQUENA COUNTY, MISSISSIPPI</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65760"/>
            <a:ext cx="11155680" cy="777240"/>
          </a:xfrm>
          <a:prstGeom prst="rect">
            <a:avLst/>
          </a:prstGeom>
          <a:noFill/>
          <a:ln/>
        </p:spPr>
        <p:txBody>
          <a:bodyPr wrap="square" lIns="0" tIns="0" rIns="0" bIns="0" rtlCol="0" anchor="ctr"/>
          <a:lstStyle/>
          <a:p>
            <a:pPr algn="l" indent="0" marL="0">
              <a:buNone/>
            </a:pPr>
            <a:r>
              <a:rPr lang="en-US" sz="3200" b="1" dirty="0">
                <a:solidFill>
                  <a:srgbClr val="0D4F5C"/>
                </a:solidFill>
                <a:latin typeface="Calibri" pitchFamily="34" charset="0"/>
                <a:ea typeface="Calibri" pitchFamily="34" charset="-122"/>
                <a:cs typeface="Calibri" pitchFamily="34" charset="-120"/>
              </a:rPr>
              <a:t>Mississippi at the bottom of every U.S. ranking</a:t>
            </a:r>
            <a:endParaRPr lang="en-US" sz="3200" dirty="0"/>
          </a:p>
        </p:txBody>
      </p:sp>
      <p:sp>
        <p:nvSpPr>
          <p:cNvPr id="3" name="Shape 1"/>
          <p:cNvSpPr/>
          <p:nvPr/>
        </p:nvSpPr>
        <p:spPr>
          <a:xfrm>
            <a:off x="502920" y="6355080"/>
            <a:ext cx="11155680" cy="0"/>
          </a:xfrm>
          <a:prstGeom prst="line">
            <a:avLst/>
          </a:prstGeom>
          <a:noFill/>
          <a:ln w="6350">
            <a:solidFill>
              <a:srgbClr val="D8D8D8"/>
            </a:solidFill>
            <a:prstDash val="solid"/>
          </a:ln>
        </p:spPr>
      </p:sp>
      <p:sp>
        <p:nvSpPr>
          <p:cNvPr id="4" name="Text 2"/>
          <p:cNvSpPr/>
          <p:nvPr/>
        </p:nvSpPr>
        <p:spPr>
          <a:xfrm>
            <a:off x="502920" y="6446520"/>
            <a:ext cx="2743200" cy="274320"/>
          </a:xfrm>
          <a:prstGeom prst="rect">
            <a:avLst/>
          </a:prstGeom>
          <a:noFill/>
          <a:ln/>
        </p:spPr>
        <p:txBody>
          <a:bodyPr wrap="square" lIns="0" tIns="0" rIns="0" bIns="0" rtlCol="0" anchor="ctr"/>
          <a:lstStyle/>
          <a:p>
            <a:pPr algn="l" indent="0" marL="0">
              <a:buNone/>
            </a:pPr>
            <a:r>
              <a:rPr lang="en-US" sz="900" dirty="0">
                <a:solidFill>
                  <a:srgbClr val="5A5A5A"/>
                </a:solidFill>
                <a:latin typeface="Calibri" pitchFamily="34" charset="0"/>
                <a:ea typeface="Calibri" pitchFamily="34" charset="-122"/>
                <a:cs typeface="Calibri" pitchFamily="34" charset="-120"/>
              </a:rPr>
              <a:t>Slide 3 of 9</a:t>
            </a:r>
            <a:endParaRPr lang="en-US" sz="900" dirty="0"/>
          </a:p>
        </p:txBody>
      </p:sp>
      <p:sp>
        <p:nvSpPr>
          <p:cNvPr id="5" name="Text 3"/>
          <p:cNvSpPr/>
          <p:nvPr/>
        </p:nvSpPr>
        <p:spPr>
          <a:xfrm>
            <a:off x="8732520" y="6446520"/>
            <a:ext cx="2926080" cy="274320"/>
          </a:xfrm>
          <a:prstGeom prst="rect">
            <a:avLst/>
          </a:prstGeom>
          <a:noFill/>
          <a:ln/>
        </p:spPr>
        <p:txBody>
          <a:bodyPr wrap="square" lIns="0" tIns="0" rIns="0" bIns="0" rtlCol="0" anchor="ctr"/>
          <a:lstStyle/>
          <a:p>
            <a:pPr algn="r" indent="0" marL="0">
              <a:buNone/>
            </a:pPr>
            <a:r>
              <a:rPr lang="en-US" sz="900" i="1" dirty="0">
                <a:solidFill>
                  <a:srgbClr val="5A5A5A"/>
                </a:solidFill>
                <a:latin typeface="Calibri" pitchFamily="34" charset="0"/>
                <a:ea typeface="Calibri" pitchFamily="34" charset="-122"/>
                <a:cs typeface="Calibri" pitchFamily="34" charset="-120"/>
              </a:rPr>
              <a:t>Why this matters</a:t>
            </a:r>
            <a:endParaRPr lang="en-US" sz="900" dirty="0"/>
          </a:p>
        </p:txBody>
      </p:sp>
      <p:sp>
        <p:nvSpPr>
          <p:cNvPr id="6" name="Shape 4"/>
          <p:cNvSpPr/>
          <p:nvPr/>
        </p:nvSpPr>
        <p:spPr>
          <a:xfrm>
            <a:off x="594360" y="1508760"/>
            <a:ext cx="502920" cy="502920"/>
          </a:xfrm>
          <a:prstGeom prst="ellipse">
            <a:avLst/>
          </a:prstGeom>
          <a:solidFill>
            <a:srgbClr val="0D4F5C"/>
          </a:solidFill>
          <a:ln/>
        </p:spPr>
      </p:sp>
      <p:sp>
        <p:nvSpPr>
          <p:cNvPr id="7" name="Text 5"/>
          <p:cNvSpPr/>
          <p:nvPr/>
        </p:nvSpPr>
        <p:spPr>
          <a:xfrm>
            <a:off x="594360" y="150876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8" name="Text 6"/>
          <p:cNvSpPr/>
          <p:nvPr/>
        </p:nvSpPr>
        <p:spPr>
          <a:xfrm>
            <a:off x="1325880" y="1463040"/>
            <a:ext cx="10332720" cy="914400"/>
          </a:xfrm>
          <a:prstGeom prst="rect">
            <a:avLst/>
          </a:prstGeom>
          <a:noFill/>
          <a:ln/>
        </p:spPr>
        <p:txBody>
          <a:bodyPr wrap="square" lIns="0" tIns="0" rIns="0" bIns="0" rtlCol="0" anchor="ctr"/>
          <a:lstStyle/>
          <a:p>
            <a:pPr algn="l" indent="0" marL="0">
              <a:buNone/>
            </a:pPr>
            <a:r>
              <a:rPr lang="en-US" sz="1600" b="1" dirty="0">
                <a:solidFill>
                  <a:srgbClr val="0D4F5C"/>
                </a:solidFill>
                <a:latin typeface="Calibri" pitchFamily="34" charset="0"/>
                <a:ea typeface="Calibri" pitchFamily="34" charset="-122"/>
                <a:cs typeface="Calibri" pitchFamily="34" charset="-120"/>
              </a:rPr>
              <a:t>MS #49 or #50</a:t>
            </a:r>
            <a:pPr algn="l" indent="0" marL="0">
              <a:buNone/>
            </a:pPr>
            <a:r>
              <a:rPr lang="en-US" sz="1600" dirty="0">
                <a:solidFill>
                  <a:srgbClr val="1A1A1A"/>
                </a:solidFill>
                <a:latin typeface="Calibri" pitchFamily="34" charset="0"/>
                <a:ea typeface="Calibri" pitchFamily="34" charset="-122"/>
                <a:cs typeface="Calibri" pitchFamily="34" charset="-120"/>
              </a:rPr>
              <a:t> on America's Health Rankings almost every year of the modern series — chronically last or second-to-last in U.S. state health comparisons.</a:t>
            </a:r>
            <a:endParaRPr lang="en-US" sz="1600" dirty="0"/>
          </a:p>
        </p:txBody>
      </p:sp>
      <p:sp>
        <p:nvSpPr>
          <p:cNvPr id="9" name="Shape 7"/>
          <p:cNvSpPr/>
          <p:nvPr/>
        </p:nvSpPr>
        <p:spPr>
          <a:xfrm>
            <a:off x="594360" y="2560320"/>
            <a:ext cx="502920" cy="502920"/>
          </a:xfrm>
          <a:prstGeom prst="ellipse">
            <a:avLst/>
          </a:prstGeom>
          <a:solidFill>
            <a:srgbClr val="0D4F5C"/>
          </a:solidFill>
          <a:ln/>
        </p:spPr>
      </p:sp>
      <p:sp>
        <p:nvSpPr>
          <p:cNvPr id="10" name="Text 8"/>
          <p:cNvSpPr/>
          <p:nvPr/>
        </p:nvSpPr>
        <p:spPr>
          <a:xfrm>
            <a:off x="594360" y="256032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1" name="Text 9"/>
          <p:cNvSpPr/>
          <p:nvPr/>
        </p:nvSpPr>
        <p:spPr>
          <a:xfrm>
            <a:off x="1325880" y="2514600"/>
            <a:ext cx="10332720" cy="914400"/>
          </a:xfrm>
          <a:prstGeom prst="rect">
            <a:avLst/>
          </a:prstGeom>
          <a:noFill/>
          <a:ln/>
        </p:spPr>
        <p:txBody>
          <a:bodyPr wrap="square" lIns="0" tIns="0" rIns="0" bIns="0" rtlCol="0" anchor="ctr"/>
          <a:lstStyle/>
          <a:p>
            <a:pPr algn="l" indent="0" marL="0">
              <a:buNone/>
            </a:pPr>
            <a:r>
              <a:rPr lang="en-US" sz="1600" b="1" dirty="0">
                <a:solidFill>
                  <a:srgbClr val="0D4F5C"/>
                </a:solidFill>
                <a:latin typeface="Calibri" pitchFamily="34" charset="0"/>
                <a:ea typeface="Calibri" pitchFamily="34" charset="-122"/>
                <a:cs typeface="Calibri" pitchFamily="34" charset="-120"/>
              </a:rPr>
              <a:t>The Delta region</a:t>
            </a:r>
            <a:pPr algn="l" indent="0" marL="0">
              <a:buNone/>
            </a:pPr>
            <a:r>
              <a:rPr lang="en-US" sz="1600" dirty="0">
                <a:solidFill>
                  <a:srgbClr val="1A1A1A"/>
                </a:solidFill>
                <a:latin typeface="Calibri" pitchFamily="34" charset="0"/>
                <a:ea typeface="Calibri" pitchFamily="34" charset="-122"/>
                <a:cs typeface="Calibri" pitchFamily="34" charset="-120"/>
              </a:rPr>
              <a:t> — 18 counties along the Mississippi River, formally designated by the federal Delta Regional Authority — concentrates compounded health, economic, and structural disparity.</a:t>
            </a:r>
            <a:endParaRPr lang="en-US" sz="1600" dirty="0"/>
          </a:p>
        </p:txBody>
      </p:sp>
      <p:sp>
        <p:nvSpPr>
          <p:cNvPr id="12" name="Shape 10"/>
          <p:cNvSpPr/>
          <p:nvPr/>
        </p:nvSpPr>
        <p:spPr>
          <a:xfrm>
            <a:off x="594360" y="3611880"/>
            <a:ext cx="502920" cy="502920"/>
          </a:xfrm>
          <a:prstGeom prst="ellipse">
            <a:avLst/>
          </a:prstGeom>
          <a:solidFill>
            <a:srgbClr val="0D4F5C"/>
          </a:solidFill>
          <a:ln/>
        </p:spPr>
      </p:sp>
      <p:sp>
        <p:nvSpPr>
          <p:cNvPr id="13" name="Text 11"/>
          <p:cNvSpPr/>
          <p:nvPr/>
        </p:nvSpPr>
        <p:spPr>
          <a:xfrm>
            <a:off x="594360" y="361188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14" name="Text 12"/>
          <p:cNvSpPr/>
          <p:nvPr/>
        </p:nvSpPr>
        <p:spPr>
          <a:xfrm>
            <a:off x="1325880" y="3566160"/>
            <a:ext cx="10332720" cy="914400"/>
          </a:xfrm>
          <a:prstGeom prst="rect">
            <a:avLst/>
          </a:prstGeom>
          <a:noFill/>
          <a:ln/>
        </p:spPr>
        <p:txBody>
          <a:bodyPr wrap="square" lIns="0" tIns="0" rIns="0" bIns="0" rtlCol="0" anchor="ctr"/>
          <a:lstStyle/>
          <a:p>
            <a:pPr algn="l" indent="0" marL="0">
              <a:buNone/>
            </a:pPr>
            <a:r>
              <a:rPr lang="en-US" sz="1600" b="1" dirty="0">
                <a:solidFill>
                  <a:srgbClr val="0D4F5C"/>
                </a:solidFill>
                <a:latin typeface="Calibri" pitchFamily="34" charset="0"/>
                <a:ea typeface="Calibri" pitchFamily="34" charset="-122"/>
                <a:cs typeface="Calibri" pitchFamily="34" charset="-120"/>
              </a:rPr>
              <a:t>Overlapping disadvantages</a:t>
            </a:r>
            <a:pPr algn="l" indent="0" marL="0">
              <a:buNone/>
            </a:pPr>
            <a:r>
              <a:rPr lang="en-US" sz="1600" dirty="0">
                <a:solidFill>
                  <a:srgbClr val="1A1A1A"/>
                </a:solidFill>
                <a:latin typeface="Calibri" pitchFamily="34" charset="0"/>
                <a:ea typeface="Calibri" pitchFamily="34" charset="-122"/>
                <a:cs typeface="Calibri" pitchFamily="34" charset="-120"/>
              </a:rPr>
              <a:t> — high obesity, high diabetes, low provider density, deep rural poverty, geographic isolation — that no single dataset captures.</a:t>
            </a:r>
            <a:endParaRPr lang="en-US" sz="1600" dirty="0"/>
          </a:p>
        </p:txBody>
      </p:sp>
      <p:sp>
        <p:nvSpPr>
          <p:cNvPr id="15" name="Shape 13"/>
          <p:cNvSpPr/>
          <p:nvPr/>
        </p:nvSpPr>
        <p:spPr>
          <a:xfrm>
            <a:off x="502920" y="5074920"/>
            <a:ext cx="11155680" cy="1005840"/>
          </a:xfrm>
          <a:prstGeom prst="rect">
            <a:avLst/>
          </a:prstGeom>
          <a:solidFill>
            <a:srgbClr val="E8F0F2"/>
          </a:solidFill>
          <a:ln/>
        </p:spPr>
      </p:sp>
      <p:sp>
        <p:nvSpPr>
          <p:cNvPr id="16" name="Shape 14"/>
          <p:cNvSpPr/>
          <p:nvPr/>
        </p:nvSpPr>
        <p:spPr>
          <a:xfrm>
            <a:off x="502920" y="5074920"/>
            <a:ext cx="73152" cy="1005840"/>
          </a:xfrm>
          <a:prstGeom prst="rect">
            <a:avLst/>
          </a:prstGeom>
          <a:solidFill>
            <a:srgbClr val="0D4F5C"/>
          </a:solidFill>
          <a:ln/>
        </p:spPr>
      </p:sp>
      <p:sp>
        <p:nvSpPr>
          <p:cNvPr id="17" name="Text 15"/>
          <p:cNvSpPr/>
          <p:nvPr/>
        </p:nvSpPr>
        <p:spPr>
          <a:xfrm>
            <a:off x="731520" y="5120640"/>
            <a:ext cx="10835640" cy="914400"/>
          </a:xfrm>
          <a:prstGeom prst="rect">
            <a:avLst/>
          </a:prstGeom>
          <a:noFill/>
          <a:ln/>
        </p:spPr>
        <p:txBody>
          <a:bodyPr wrap="square" lIns="0" tIns="0" rIns="0" bIns="0" rtlCol="0" anchor="ctr"/>
          <a:lstStyle/>
          <a:p>
            <a:pPr indent="0" marL="0">
              <a:spcAft>
                <a:spcPts val="200"/>
              </a:spcAft>
              <a:buNone/>
            </a:pPr>
            <a:r>
              <a:rPr lang="en-US" sz="1300" b="1" dirty="0">
                <a:solidFill>
                  <a:srgbClr val="0D4F5C"/>
                </a:solidFill>
                <a:latin typeface="Calibri" pitchFamily="34" charset="0"/>
                <a:ea typeface="Calibri" pitchFamily="34" charset="-122"/>
                <a:cs typeface="Calibri" pitchFamily="34" charset="-120"/>
              </a:rPr>
              <a:t>The hard question</a:t>
            </a:r>
            <a:endParaRPr lang="en-US" sz="1300" dirty="0"/>
          </a:p>
          <a:p>
            <a:pPr indent="0" marL="0">
              <a:spcAft>
                <a:spcPts val="200"/>
              </a:spcAft>
              <a:buNone/>
            </a:pPr>
            <a:r>
              <a:rPr lang="en-US" sz="1300" dirty="0">
                <a:solidFill>
                  <a:srgbClr val="1A1A1A"/>
                </a:solidFill>
                <a:latin typeface="Calibri" pitchFamily="34" charset="0"/>
                <a:ea typeface="Calibri" pitchFamily="34" charset="-122"/>
                <a:cs typeface="Calibri" pitchFamily="34" charset="-120"/>
              </a:rPr>
              <a:t>The Gulf South Center exists to address exactly this kind of disparity. But where do you start? Which counties do you prioritize? That's what this index answers.</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65760"/>
            <a:ext cx="11155680" cy="777240"/>
          </a:xfrm>
          <a:prstGeom prst="rect">
            <a:avLst/>
          </a:prstGeom>
          <a:noFill/>
          <a:ln/>
        </p:spPr>
        <p:txBody>
          <a:bodyPr wrap="square" lIns="0" tIns="0" rIns="0" bIns="0" rtlCol="0" anchor="ctr"/>
          <a:lstStyle/>
          <a:p>
            <a:pPr algn="l" indent="0" marL="0">
              <a:buNone/>
            </a:pPr>
            <a:r>
              <a:rPr lang="en-US" sz="3200" b="1" dirty="0">
                <a:solidFill>
                  <a:srgbClr val="0D4F5C"/>
                </a:solidFill>
                <a:latin typeface="Calibri" pitchFamily="34" charset="0"/>
                <a:ea typeface="Calibri" pitchFamily="34" charset="-122"/>
                <a:cs typeface="Calibri" pitchFamily="34" charset="-120"/>
              </a:rPr>
              <a:t>Five federal datasets, nine relational tables</a:t>
            </a:r>
            <a:endParaRPr lang="en-US" sz="3200" dirty="0"/>
          </a:p>
        </p:txBody>
      </p:sp>
      <p:sp>
        <p:nvSpPr>
          <p:cNvPr id="3" name="Shape 1"/>
          <p:cNvSpPr/>
          <p:nvPr/>
        </p:nvSpPr>
        <p:spPr>
          <a:xfrm>
            <a:off x="502920" y="6355080"/>
            <a:ext cx="11155680" cy="0"/>
          </a:xfrm>
          <a:prstGeom prst="line">
            <a:avLst/>
          </a:prstGeom>
          <a:noFill/>
          <a:ln w="6350">
            <a:solidFill>
              <a:srgbClr val="D8D8D8"/>
            </a:solidFill>
            <a:prstDash val="solid"/>
          </a:ln>
        </p:spPr>
      </p:sp>
      <p:sp>
        <p:nvSpPr>
          <p:cNvPr id="4" name="Text 2"/>
          <p:cNvSpPr/>
          <p:nvPr/>
        </p:nvSpPr>
        <p:spPr>
          <a:xfrm>
            <a:off x="502920" y="6446520"/>
            <a:ext cx="2743200" cy="274320"/>
          </a:xfrm>
          <a:prstGeom prst="rect">
            <a:avLst/>
          </a:prstGeom>
          <a:noFill/>
          <a:ln/>
        </p:spPr>
        <p:txBody>
          <a:bodyPr wrap="square" lIns="0" tIns="0" rIns="0" bIns="0" rtlCol="0" anchor="ctr"/>
          <a:lstStyle/>
          <a:p>
            <a:pPr algn="l" indent="0" marL="0">
              <a:buNone/>
            </a:pPr>
            <a:r>
              <a:rPr lang="en-US" sz="900" dirty="0">
                <a:solidFill>
                  <a:srgbClr val="5A5A5A"/>
                </a:solidFill>
                <a:latin typeface="Calibri" pitchFamily="34" charset="0"/>
                <a:ea typeface="Calibri" pitchFamily="34" charset="-122"/>
                <a:cs typeface="Calibri" pitchFamily="34" charset="-120"/>
              </a:rPr>
              <a:t>Slide 4 of 9</a:t>
            </a:r>
            <a:endParaRPr lang="en-US" sz="900" dirty="0"/>
          </a:p>
        </p:txBody>
      </p:sp>
      <p:sp>
        <p:nvSpPr>
          <p:cNvPr id="5" name="Text 3"/>
          <p:cNvSpPr/>
          <p:nvPr/>
        </p:nvSpPr>
        <p:spPr>
          <a:xfrm>
            <a:off x="8732520" y="6446520"/>
            <a:ext cx="2926080" cy="274320"/>
          </a:xfrm>
          <a:prstGeom prst="rect">
            <a:avLst/>
          </a:prstGeom>
          <a:noFill/>
          <a:ln/>
        </p:spPr>
        <p:txBody>
          <a:bodyPr wrap="square" lIns="0" tIns="0" rIns="0" bIns="0" rtlCol="0" anchor="ctr"/>
          <a:lstStyle/>
          <a:p>
            <a:pPr algn="r" indent="0" marL="0">
              <a:buNone/>
            </a:pPr>
            <a:r>
              <a:rPr lang="en-US" sz="900" i="1" dirty="0">
                <a:solidFill>
                  <a:srgbClr val="5A5A5A"/>
                </a:solidFill>
                <a:latin typeface="Calibri" pitchFamily="34" charset="0"/>
                <a:ea typeface="Calibri" pitchFamily="34" charset="-122"/>
                <a:cs typeface="Calibri" pitchFamily="34" charset="-120"/>
              </a:rPr>
              <a:t>Data foundation</a:t>
            </a:r>
            <a:endParaRPr lang="en-US" sz="900" dirty="0"/>
          </a:p>
        </p:txBody>
      </p:sp>
      <p:sp>
        <p:nvSpPr>
          <p:cNvPr id="6" name="Text 4"/>
          <p:cNvSpPr/>
          <p:nvPr/>
        </p:nvSpPr>
        <p:spPr>
          <a:xfrm>
            <a:off x="502920" y="1417320"/>
            <a:ext cx="4937760" cy="777240"/>
          </a:xfrm>
          <a:prstGeom prst="rect">
            <a:avLst/>
          </a:prstGeom>
          <a:noFill/>
          <a:ln/>
        </p:spPr>
        <p:txBody>
          <a:bodyPr wrap="square" lIns="0" tIns="0" rIns="0" bIns="0" rtlCol="0" anchor="t"/>
          <a:lstStyle/>
          <a:p>
            <a:pPr algn="l" indent="0" marL="0">
              <a:buNone/>
            </a:pPr>
            <a:r>
              <a:rPr lang="en-US" sz="1400" dirty="0">
                <a:solidFill>
                  <a:srgbClr val="1A1A1A"/>
                </a:solidFill>
                <a:latin typeface="Calibri" pitchFamily="34" charset="0"/>
                <a:ea typeface="Calibri" pitchFamily="34" charset="-122"/>
                <a:cs typeface="Calibri" pitchFamily="34" charset="-120"/>
              </a:rPr>
              <a:t>The index sits on top of three federally-maintained data programs plus two supporting datasets.</a:t>
            </a:r>
            <a:endParaRPr lang="en-US" sz="1400" dirty="0"/>
          </a:p>
        </p:txBody>
      </p:sp>
      <p:sp>
        <p:nvSpPr>
          <p:cNvPr id="7" name="Shape 5"/>
          <p:cNvSpPr/>
          <p:nvPr/>
        </p:nvSpPr>
        <p:spPr>
          <a:xfrm>
            <a:off x="502920" y="2331720"/>
            <a:ext cx="2606040" cy="329184"/>
          </a:xfrm>
          <a:prstGeom prst="roundRect">
            <a:avLst>
              <a:gd name="adj" fmla="val 50000"/>
            </a:avLst>
          </a:prstGeom>
          <a:solidFill>
            <a:srgbClr val="E8F0F2"/>
          </a:solidFill>
          <a:ln w="9525">
            <a:solidFill>
              <a:srgbClr val="0D4F5C"/>
            </a:solidFill>
            <a:prstDash val="solid"/>
          </a:ln>
        </p:spPr>
      </p:sp>
      <p:sp>
        <p:nvSpPr>
          <p:cNvPr id="8" name="Text 6"/>
          <p:cNvSpPr/>
          <p:nvPr/>
        </p:nvSpPr>
        <p:spPr>
          <a:xfrm>
            <a:off x="502920" y="2331720"/>
            <a:ext cx="2606040" cy="329184"/>
          </a:xfrm>
          <a:prstGeom prst="rect">
            <a:avLst/>
          </a:prstGeom>
          <a:noFill/>
          <a:ln/>
        </p:spPr>
        <p:txBody>
          <a:bodyPr wrap="square" lIns="0" tIns="0" rIns="0" bIns="0" rtlCol="0" anchor="ctr"/>
          <a:lstStyle/>
          <a:p>
            <a:pPr algn="ctr" indent="0" marL="0">
              <a:buNone/>
            </a:pPr>
            <a:r>
              <a:rPr lang="en-US" sz="1200" b="1" dirty="0">
                <a:solidFill>
                  <a:srgbClr val="0D4F5C"/>
                </a:solidFill>
                <a:latin typeface="Calibri" pitchFamily="34" charset="0"/>
                <a:ea typeface="Calibri" pitchFamily="34" charset="-122"/>
                <a:cs typeface="Calibri" pitchFamily="34" charset="-120"/>
              </a:rPr>
              <a:t>CDC PLACES</a:t>
            </a:r>
            <a:endParaRPr lang="en-US" sz="1200" dirty="0"/>
          </a:p>
        </p:txBody>
      </p:sp>
      <p:sp>
        <p:nvSpPr>
          <p:cNvPr id="9" name="Shape 7"/>
          <p:cNvSpPr/>
          <p:nvPr/>
        </p:nvSpPr>
        <p:spPr>
          <a:xfrm>
            <a:off x="502920" y="2743200"/>
            <a:ext cx="2606040" cy="329184"/>
          </a:xfrm>
          <a:prstGeom prst="roundRect">
            <a:avLst>
              <a:gd name="adj" fmla="val 50000"/>
            </a:avLst>
          </a:prstGeom>
          <a:solidFill>
            <a:srgbClr val="E8F0F2"/>
          </a:solidFill>
          <a:ln w="9525">
            <a:solidFill>
              <a:srgbClr val="0D4F5C"/>
            </a:solidFill>
            <a:prstDash val="solid"/>
          </a:ln>
        </p:spPr>
      </p:sp>
      <p:sp>
        <p:nvSpPr>
          <p:cNvPr id="10" name="Text 8"/>
          <p:cNvSpPr/>
          <p:nvPr/>
        </p:nvSpPr>
        <p:spPr>
          <a:xfrm>
            <a:off x="502920" y="2743200"/>
            <a:ext cx="2606040" cy="329184"/>
          </a:xfrm>
          <a:prstGeom prst="rect">
            <a:avLst/>
          </a:prstGeom>
          <a:noFill/>
          <a:ln/>
        </p:spPr>
        <p:txBody>
          <a:bodyPr wrap="square" lIns="0" tIns="0" rIns="0" bIns="0" rtlCol="0" anchor="ctr"/>
          <a:lstStyle/>
          <a:p>
            <a:pPr algn="ctr" indent="0" marL="0">
              <a:buNone/>
            </a:pPr>
            <a:r>
              <a:rPr lang="en-US" sz="1200" b="1" dirty="0">
                <a:solidFill>
                  <a:srgbClr val="0D4F5C"/>
                </a:solidFill>
                <a:latin typeface="Calibri" pitchFamily="34" charset="0"/>
                <a:ea typeface="Calibri" pitchFamily="34" charset="-122"/>
                <a:cs typeface="Calibri" pitchFamily="34" charset="-120"/>
              </a:rPr>
              <a:t>CDC/ATSDR SVI</a:t>
            </a:r>
            <a:endParaRPr lang="en-US" sz="1200" dirty="0"/>
          </a:p>
        </p:txBody>
      </p:sp>
      <p:sp>
        <p:nvSpPr>
          <p:cNvPr id="11" name="Shape 9"/>
          <p:cNvSpPr/>
          <p:nvPr/>
        </p:nvSpPr>
        <p:spPr>
          <a:xfrm>
            <a:off x="502920" y="3154680"/>
            <a:ext cx="2606040" cy="329184"/>
          </a:xfrm>
          <a:prstGeom prst="roundRect">
            <a:avLst>
              <a:gd name="adj" fmla="val 50000"/>
            </a:avLst>
          </a:prstGeom>
          <a:solidFill>
            <a:srgbClr val="E8F0F2"/>
          </a:solidFill>
          <a:ln w="9525">
            <a:solidFill>
              <a:srgbClr val="0D4F5C"/>
            </a:solidFill>
            <a:prstDash val="solid"/>
          </a:ln>
        </p:spPr>
      </p:sp>
      <p:sp>
        <p:nvSpPr>
          <p:cNvPr id="12" name="Text 10"/>
          <p:cNvSpPr/>
          <p:nvPr/>
        </p:nvSpPr>
        <p:spPr>
          <a:xfrm>
            <a:off x="502920" y="3154680"/>
            <a:ext cx="2606040" cy="329184"/>
          </a:xfrm>
          <a:prstGeom prst="rect">
            <a:avLst/>
          </a:prstGeom>
          <a:noFill/>
          <a:ln/>
        </p:spPr>
        <p:txBody>
          <a:bodyPr wrap="square" lIns="0" tIns="0" rIns="0" bIns="0" rtlCol="0" anchor="ctr"/>
          <a:lstStyle/>
          <a:p>
            <a:pPr algn="ctr" indent="0" marL="0">
              <a:buNone/>
            </a:pPr>
            <a:r>
              <a:rPr lang="en-US" sz="1200" b="1" dirty="0">
                <a:solidFill>
                  <a:srgbClr val="0D4F5C"/>
                </a:solidFill>
                <a:latin typeface="Calibri" pitchFamily="34" charset="0"/>
                <a:ea typeface="Calibri" pitchFamily="34" charset="-122"/>
                <a:cs typeface="Calibri" pitchFamily="34" charset="-120"/>
              </a:rPr>
              <a:t>CMS NPPES</a:t>
            </a:r>
            <a:endParaRPr lang="en-US" sz="1200" dirty="0"/>
          </a:p>
        </p:txBody>
      </p:sp>
      <p:sp>
        <p:nvSpPr>
          <p:cNvPr id="13" name="Shape 11"/>
          <p:cNvSpPr/>
          <p:nvPr/>
        </p:nvSpPr>
        <p:spPr>
          <a:xfrm>
            <a:off x="502920" y="3566160"/>
            <a:ext cx="2606040" cy="329184"/>
          </a:xfrm>
          <a:prstGeom prst="roundRect">
            <a:avLst>
              <a:gd name="adj" fmla="val 50000"/>
            </a:avLst>
          </a:prstGeom>
          <a:solidFill>
            <a:srgbClr val="E8F0F2"/>
          </a:solidFill>
          <a:ln w="9525">
            <a:solidFill>
              <a:srgbClr val="0D4F5C"/>
            </a:solidFill>
            <a:prstDash val="solid"/>
          </a:ln>
        </p:spPr>
      </p:sp>
      <p:sp>
        <p:nvSpPr>
          <p:cNvPr id="14" name="Text 12"/>
          <p:cNvSpPr/>
          <p:nvPr/>
        </p:nvSpPr>
        <p:spPr>
          <a:xfrm>
            <a:off x="502920" y="3566160"/>
            <a:ext cx="2606040" cy="329184"/>
          </a:xfrm>
          <a:prstGeom prst="rect">
            <a:avLst/>
          </a:prstGeom>
          <a:noFill/>
          <a:ln/>
        </p:spPr>
        <p:txBody>
          <a:bodyPr wrap="square" lIns="0" tIns="0" rIns="0" bIns="0" rtlCol="0" anchor="ctr"/>
          <a:lstStyle/>
          <a:p>
            <a:pPr algn="ctr" indent="0" marL="0">
              <a:buNone/>
            </a:pPr>
            <a:r>
              <a:rPr lang="en-US" sz="1200" b="1" dirty="0">
                <a:solidFill>
                  <a:srgbClr val="0D4F5C"/>
                </a:solidFill>
                <a:latin typeface="Calibri" pitchFamily="34" charset="0"/>
                <a:ea typeface="Calibri" pitchFamily="34" charset="-122"/>
                <a:cs typeface="Calibri" pitchFamily="34" charset="-120"/>
              </a:rPr>
              <a:t>Census ACS</a:t>
            </a:r>
            <a:endParaRPr lang="en-US" sz="1200" dirty="0"/>
          </a:p>
        </p:txBody>
      </p:sp>
      <p:sp>
        <p:nvSpPr>
          <p:cNvPr id="15" name="Shape 13"/>
          <p:cNvSpPr/>
          <p:nvPr/>
        </p:nvSpPr>
        <p:spPr>
          <a:xfrm>
            <a:off x="502920" y="3977640"/>
            <a:ext cx="2606040" cy="329184"/>
          </a:xfrm>
          <a:prstGeom prst="roundRect">
            <a:avLst>
              <a:gd name="adj" fmla="val 50000"/>
            </a:avLst>
          </a:prstGeom>
          <a:solidFill>
            <a:srgbClr val="E8F0F2"/>
          </a:solidFill>
          <a:ln w="9525">
            <a:solidFill>
              <a:srgbClr val="0D4F5C"/>
            </a:solidFill>
            <a:prstDash val="solid"/>
          </a:ln>
        </p:spPr>
      </p:sp>
      <p:sp>
        <p:nvSpPr>
          <p:cNvPr id="16" name="Text 14"/>
          <p:cNvSpPr/>
          <p:nvPr/>
        </p:nvSpPr>
        <p:spPr>
          <a:xfrm>
            <a:off x="502920" y="3977640"/>
            <a:ext cx="2606040" cy="329184"/>
          </a:xfrm>
          <a:prstGeom prst="rect">
            <a:avLst/>
          </a:prstGeom>
          <a:noFill/>
          <a:ln/>
        </p:spPr>
        <p:txBody>
          <a:bodyPr wrap="square" lIns="0" tIns="0" rIns="0" bIns="0" rtlCol="0" anchor="ctr"/>
          <a:lstStyle/>
          <a:p>
            <a:pPr algn="ctr" indent="0" marL="0">
              <a:buNone/>
            </a:pPr>
            <a:r>
              <a:rPr lang="en-US" sz="1200" b="1" dirty="0">
                <a:solidFill>
                  <a:srgbClr val="0D4F5C"/>
                </a:solidFill>
                <a:latin typeface="Calibri" pitchFamily="34" charset="0"/>
                <a:ea typeface="Calibri" pitchFamily="34" charset="-122"/>
                <a:cs typeface="Calibri" pitchFamily="34" charset="-120"/>
              </a:rPr>
              <a:t>Census ZCTA crosswalk</a:t>
            </a:r>
            <a:endParaRPr lang="en-US" sz="1200" dirty="0"/>
          </a:p>
        </p:txBody>
      </p:sp>
      <p:sp>
        <p:nvSpPr>
          <p:cNvPr id="17" name="Text 15"/>
          <p:cNvSpPr/>
          <p:nvPr/>
        </p:nvSpPr>
        <p:spPr>
          <a:xfrm>
            <a:off x="3291840" y="2331720"/>
            <a:ext cx="2743200" cy="365760"/>
          </a:xfrm>
          <a:prstGeom prst="rect">
            <a:avLst/>
          </a:prstGeom>
          <a:noFill/>
          <a:ln/>
        </p:spPr>
        <p:txBody>
          <a:bodyPr wrap="square" lIns="0" tIns="0" rIns="0" bIns="0" rtlCol="0" anchor="ctr"/>
          <a:lstStyle/>
          <a:p>
            <a:pPr algn="l" indent="0" marL="0">
              <a:buNone/>
            </a:pPr>
            <a:r>
              <a:rPr lang="en-US" sz="1400" b="1" dirty="0">
                <a:solidFill>
                  <a:srgbClr val="1A1A1A"/>
                </a:solidFill>
                <a:latin typeface="Calibri" pitchFamily="34" charset="0"/>
                <a:ea typeface="Calibri" pitchFamily="34" charset="-122"/>
                <a:cs typeface="Calibri" pitchFamily="34" charset="-120"/>
              </a:rPr>
              <a:t>Built for trust</a:t>
            </a:r>
            <a:endParaRPr lang="en-US" sz="1400" dirty="0"/>
          </a:p>
        </p:txBody>
      </p:sp>
      <p:sp>
        <p:nvSpPr>
          <p:cNvPr id="18" name="Text 16"/>
          <p:cNvSpPr/>
          <p:nvPr/>
        </p:nvSpPr>
        <p:spPr>
          <a:xfrm>
            <a:off x="3291840" y="2743200"/>
            <a:ext cx="3108960" cy="2194560"/>
          </a:xfrm>
          <a:prstGeom prst="rect">
            <a:avLst/>
          </a:prstGeom>
          <a:noFill/>
          <a:ln/>
        </p:spPr>
        <p:txBody>
          <a:bodyPr wrap="square" lIns="0" tIns="0" rIns="0" bIns="0" rtlCol="0" anchor="ctr"/>
          <a:lstStyle/>
          <a:p>
            <a:pPr marL="342900" indent="-342900">
              <a:spcAft>
                <a:spcPts val="400"/>
              </a:spcAft>
              <a:buSzPct val="100000"/>
              <a:buChar char="•"/>
            </a:pPr>
            <a:r>
              <a:rPr lang="en-US" sz="1200" dirty="0">
                <a:solidFill>
                  <a:srgbClr val="1A1A1A"/>
                </a:solidFill>
                <a:latin typeface="Calibri" pitchFamily="34" charset="0"/>
                <a:ea typeface="Calibri" pitchFamily="34" charset="-122"/>
                <a:cs typeface="Calibri" pitchFamily="34" charset="-120"/>
              </a:rPr>
              <a:t>9 normalized tables with foreign keys</a:t>
            </a:r>
            <a:endParaRPr lang="en-US" sz="1200" dirty="0"/>
          </a:p>
          <a:p>
            <a:pPr marL="342900" indent="-342900">
              <a:spcAft>
                <a:spcPts val="400"/>
              </a:spcAft>
              <a:buSzPct val="100000"/>
              <a:buChar char="•"/>
            </a:pPr>
            <a:r>
              <a:rPr lang="en-US" sz="1200" dirty="0">
                <a:solidFill>
                  <a:srgbClr val="1A1A1A"/>
                </a:solidFill>
                <a:latin typeface="Calibri" pitchFamily="34" charset="0"/>
                <a:ea typeface="Calibri" pitchFamily="34" charset="-122"/>
                <a:cs typeface="Calibri" pitchFamily="34" charset="-120"/>
              </a:rPr>
              <a:t>27 data-quality checks, all passing</a:t>
            </a:r>
            <a:endParaRPr lang="en-US" sz="1200" dirty="0"/>
          </a:p>
          <a:p>
            <a:pPr marL="342900" indent="-342900">
              <a:spcAft>
                <a:spcPts val="400"/>
              </a:spcAft>
              <a:buSzPct val="100000"/>
              <a:buChar char="•"/>
            </a:pPr>
            <a:r>
              <a:rPr lang="en-US" sz="1200" dirty="0">
                <a:solidFill>
                  <a:srgbClr val="1A1A1A"/>
                </a:solidFill>
                <a:latin typeface="Calibri" pitchFamily="34" charset="0"/>
                <a:ea typeface="Calibri" pitchFamily="34" charset="-122"/>
                <a:cs typeface="Calibri" pitchFamily="34" charset="-120"/>
              </a:rPr>
              <a:t>1 second end-to-end load time</a:t>
            </a:r>
            <a:endParaRPr lang="en-US" sz="1200" dirty="0"/>
          </a:p>
          <a:p>
            <a:pPr marL="342900" indent="-342900">
              <a:spcAft>
                <a:spcPts val="400"/>
              </a:spcAft>
              <a:buSzPct val="100000"/>
              <a:buChar char="•"/>
            </a:pPr>
            <a:r>
              <a:rPr lang="en-US" sz="1200" dirty="0">
                <a:solidFill>
                  <a:srgbClr val="1A1A1A"/>
                </a:solidFill>
                <a:latin typeface="Calibri" pitchFamily="34" charset="0"/>
                <a:ea typeface="Calibri" pitchFamily="34" charset="-122"/>
                <a:cs typeface="Calibri" pitchFamily="34" charset="-120"/>
              </a:rPr>
              <a:t>Every URL, vintage, and retrieval date logged</a:t>
            </a:r>
            <a:endParaRPr lang="en-US" sz="1200" dirty="0"/>
          </a:p>
        </p:txBody>
      </p:sp>
      <p:pic>
        <p:nvPicPr>
          <p:cNvPr id="19" name="Image 0" descr="/home/claude/pptx_build/er_diagram.png">    </p:cNvPr>
          <p:cNvPicPr>
            <a:picLocks noChangeAspect="1"/>
          </p:cNvPicPr>
          <p:nvPr/>
        </p:nvPicPr>
        <p:blipFill>
          <a:blip r:embed="rId1"/>
          <a:srcRect l="-18750" r="-18750" t="0" b="0"/>
          <a:stretch/>
        </p:blipFill>
        <p:spPr>
          <a:xfrm>
            <a:off x="5669280" y="1417320"/>
            <a:ext cx="6035040" cy="4389120"/>
          </a:xfrm>
          <a:prstGeom prst="rect">
            <a:avLst/>
          </a:prstGeom>
        </p:spPr>
      </p:pic>
      <p:sp>
        <p:nvSpPr>
          <p:cNvPr id="20" name="Text 17"/>
          <p:cNvSpPr/>
          <p:nvPr/>
        </p:nvSpPr>
        <p:spPr>
          <a:xfrm>
            <a:off x="5669280" y="5897880"/>
            <a:ext cx="6035040" cy="274320"/>
          </a:xfrm>
          <a:prstGeom prst="rect">
            <a:avLst/>
          </a:prstGeom>
          <a:noFill/>
          <a:ln/>
        </p:spPr>
        <p:txBody>
          <a:bodyPr wrap="square" lIns="0" tIns="0" rIns="0" bIns="0" rtlCol="0" anchor="ctr"/>
          <a:lstStyle/>
          <a:p>
            <a:pPr algn="ctr" indent="0" marL="0">
              <a:buNone/>
            </a:pPr>
            <a:r>
              <a:rPr lang="en-US" sz="1000" i="1" dirty="0">
                <a:solidFill>
                  <a:srgbClr val="5A5A5A"/>
                </a:solidFill>
                <a:latin typeface="Calibri" pitchFamily="34" charset="0"/>
                <a:ea typeface="Calibri" pitchFamily="34" charset="-122"/>
                <a:cs typeface="Calibri" pitchFamily="34" charset="-120"/>
              </a:rPr>
              <a:t>9-table relational schema · counties hub central</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65760"/>
            <a:ext cx="11155680" cy="777240"/>
          </a:xfrm>
          <a:prstGeom prst="rect">
            <a:avLst/>
          </a:prstGeom>
          <a:noFill/>
          <a:ln/>
        </p:spPr>
        <p:txBody>
          <a:bodyPr wrap="square" lIns="0" tIns="0" rIns="0" bIns="0" rtlCol="0" anchor="ctr"/>
          <a:lstStyle/>
          <a:p>
            <a:pPr algn="l" indent="0" marL="0">
              <a:buNone/>
            </a:pPr>
            <a:r>
              <a:rPr lang="en-US" sz="3200" b="1" dirty="0">
                <a:solidFill>
                  <a:srgbClr val="0D4F5C"/>
                </a:solidFill>
                <a:latin typeface="Calibri" pitchFamily="34" charset="0"/>
                <a:ea typeface="Calibri" pitchFamily="34" charset="-122"/>
                <a:cs typeface="Calibri" pitchFamily="34" charset="-120"/>
              </a:rPr>
              <a:t>Equal-weighted three-component composite</a:t>
            </a:r>
            <a:endParaRPr lang="en-US" sz="3200" dirty="0"/>
          </a:p>
        </p:txBody>
      </p:sp>
      <p:sp>
        <p:nvSpPr>
          <p:cNvPr id="3" name="Shape 1"/>
          <p:cNvSpPr/>
          <p:nvPr/>
        </p:nvSpPr>
        <p:spPr>
          <a:xfrm>
            <a:off x="502920" y="6355080"/>
            <a:ext cx="11155680" cy="0"/>
          </a:xfrm>
          <a:prstGeom prst="line">
            <a:avLst/>
          </a:prstGeom>
          <a:noFill/>
          <a:ln w="6350">
            <a:solidFill>
              <a:srgbClr val="D8D8D8"/>
            </a:solidFill>
            <a:prstDash val="solid"/>
          </a:ln>
        </p:spPr>
      </p:sp>
      <p:sp>
        <p:nvSpPr>
          <p:cNvPr id="4" name="Text 2"/>
          <p:cNvSpPr/>
          <p:nvPr/>
        </p:nvSpPr>
        <p:spPr>
          <a:xfrm>
            <a:off x="502920" y="6446520"/>
            <a:ext cx="2743200" cy="274320"/>
          </a:xfrm>
          <a:prstGeom prst="rect">
            <a:avLst/>
          </a:prstGeom>
          <a:noFill/>
          <a:ln/>
        </p:spPr>
        <p:txBody>
          <a:bodyPr wrap="square" lIns="0" tIns="0" rIns="0" bIns="0" rtlCol="0" anchor="ctr"/>
          <a:lstStyle/>
          <a:p>
            <a:pPr algn="l" indent="0" marL="0">
              <a:buNone/>
            </a:pPr>
            <a:r>
              <a:rPr lang="en-US" sz="900" dirty="0">
                <a:solidFill>
                  <a:srgbClr val="5A5A5A"/>
                </a:solidFill>
                <a:latin typeface="Calibri" pitchFamily="34" charset="0"/>
                <a:ea typeface="Calibri" pitchFamily="34" charset="-122"/>
                <a:cs typeface="Calibri" pitchFamily="34" charset="-120"/>
              </a:rPr>
              <a:t>Slide 5 of 9</a:t>
            </a:r>
            <a:endParaRPr lang="en-US" sz="900" dirty="0"/>
          </a:p>
        </p:txBody>
      </p:sp>
      <p:sp>
        <p:nvSpPr>
          <p:cNvPr id="5" name="Text 3"/>
          <p:cNvSpPr/>
          <p:nvPr/>
        </p:nvSpPr>
        <p:spPr>
          <a:xfrm>
            <a:off x="8732520" y="6446520"/>
            <a:ext cx="2926080" cy="274320"/>
          </a:xfrm>
          <a:prstGeom prst="rect">
            <a:avLst/>
          </a:prstGeom>
          <a:noFill/>
          <a:ln/>
        </p:spPr>
        <p:txBody>
          <a:bodyPr wrap="square" lIns="0" tIns="0" rIns="0" bIns="0" rtlCol="0" anchor="ctr"/>
          <a:lstStyle/>
          <a:p>
            <a:pPr algn="r" indent="0" marL="0">
              <a:buNone/>
            </a:pPr>
            <a:r>
              <a:rPr lang="en-US" sz="900" i="1" dirty="0">
                <a:solidFill>
                  <a:srgbClr val="5A5A5A"/>
                </a:solidFill>
                <a:latin typeface="Calibri" pitchFamily="34" charset="0"/>
                <a:ea typeface="Calibri" pitchFamily="34" charset="-122"/>
                <a:cs typeface="Calibri" pitchFamily="34" charset="-120"/>
              </a:rPr>
              <a:t>How the index works</a:t>
            </a:r>
            <a:endParaRPr lang="en-US" sz="900" dirty="0"/>
          </a:p>
        </p:txBody>
      </p:sp>
      <p:sp>
        <p:nvSpPr>
          <p:cNvPr id="6" name="Shape 4"/>
          <p:cNvSpPr/>
          <p:nvPr/>
        </p:nvSpPr>
        <p:spPr>
          <a:xfrm>
            <a:off x="1280160" y="1463040"/>
            <a:ext cx="9601200" cy="1691640"/>
          </a:xfrm>
          <a:prstGeom prst="rect">
            <a:avLst/>
          </a:prstGeom>
          <a:solidFill>
            <a:srgbClr val="E8F0F2"/>
          </a:solidFill>
          <a:ln/>
        </p:spPr>
      </p:sp>
      <p:sp>
        <p:nvSpPr>
          <p:cNvPr id="7" name="Shape 5"/>
          <p:cNvSpPr/>
          <p:nvPr/>
        </p:nvSpPr>
        <p:spPr>
          <a:xfrm>
            <a:off x="1280160" y="1463040"/>
            <a:ext cx="91440" cy="1691640"/>
          </a:xfrm>
          <a:prstGeom prst="rect">
            <a:avLst/>
          </a:prstGeom>
          <a:solidFill>
            <a:srgbClr val="0D4F5C"/>
          </a:solidFill>
          <a:ln/>
        </p:spPr>
      </p:sp>
      <p:sp>
        <p:nvSpPr>
          <p:cNvPr id="8" name="Text 6"/>
          <p:cNvSpPr/>
          <p:nvPr/>
        </p:nvSpPr>
        <p:spPr>
          <a:xfrm>
            <a:off x="1371600" y="1463040"/>
            <a:ext cx="9601200" cy="1691640"/>
          </a:xfrm>
          <a:prstGeom prst="rect">
            <a:avLst/>
          </a:prstGeom>
          <a:noFill/>
          <a:ln/>
        </p:spPr>
        <p:txBody>
          <a:bodyPr wrap="square" lIns="0" tIns="0" rIns="0" bIns="0" rtlCol="0" anchor="ctr"/>
          <a:lstStyle/>
          <a:p>
            <a:pPr algn="ctr" indent="0" marL="0">
              <a:buNone/>
            </a:pPr>
            <a:r>
              <a:rPr lang="en-US" sz="2000" b="1" dirty="0">
                <a:solidFill>
                  <a:srgbClr val="0D4F5C"/>
                </a:solidFill>
                <a:latin typeface="Consolas" pitchFamily="34" charset="0"/>
                <a:ea typeface="Consolas" pitchFamily="34" charset="-122"/>
                <a:cs typeface="Consolas" pitchFamily="34" charset="-120"/>
              </a:rPr>
              <a:t>EGI</a:t>
            </a:r>
            <a:pPr algn="ctr" indent="0" marL="0">
              <a:buNone/>
            </a:pPr>
            <a:r>
              <a:rPr lang="en-US" sz="2000" dirty="0">
                <a:solidFill>
                  <a:srgbClr val="1A1A1A"/>
                </a:solidFill>
                <a:latin typeface="Consolas" pitchFamily="34" charset="0"/>
                <a:ea typeface="Consolas" pitchFamily="34" charset="-122"/>
                <a:cs typeface="Consolas" pitchFamily="34" charset="-120"/>
              </a:rPr>
              <a:t> = ⅓ × </a:t>
            </a:r>
            <a:pPr algn="ctr" indent="0" marL="0">
              <a:buNone/>
            </a:pPr>
            <a:r>
              <a:rPr lang="en-US" sz="2000" b="1" dirty="0">
                <a:solidFill>
                  <a:srgbClr val="D62728"/>
                </a:solidFill>
                <a:latin typeface="Consolas" pitchFamily="34" charset="0"/>
                <a:ea typeface="Consolas" pitchFamily="34" charset="-122"/>
                <a:cs typeface="Consolas" pitchFamily="34" charset="-120"/>
              </a:rPr>
              <a:t>Burden</a:t>
            </a:r>
            <a:pPr algn="ctr" indent="0" marL="0">
              <a:buNone/>
            </a:pPr>
            <a:r>
              <a:rPr lang="en-US" sz="2000" dirty="0">
                <a:solidFill>
                  <a:srgbClr val="1A1A1A"/>
                </a:solidFill>
                <a:latin typeface="Consolas" pitchFamily="34" charset="0"/>
                <a:ea typeface="Consolas" pitchFamily="34" charset="-122"/>
                <a:cs typeface="Consolas" pitchFamily="34" charset="-120"/>
              </a:rPr>
              <a:t>  +  ⅓ × </a:t>
            </a:r>
            <a:pPr algn="ctr" indent="0" marL="0">
              <a:buNone/>
            </a:pPr>
            <a:r>
              <a:rPr lang="en-US" sz="2000" b="1" dirty="0">
                <a:solidFill>
                  <a:srgbClr val="1F77B4"/>
                </a:solidFill>
                <a:latin typeface="Consolas" pitchFamily="34" charset="0"/>
                <a:ea typeface="Consolas" pitchFamily="34" charset="-122"/>
                <a:cs typeface="Consolas" pitchFamily="34" charset="-120"/>
              </a:rPr>
              <a:t>Capacity</a:t>
            </a:r>
            <a:pPr algn="ctr" indent="0" marL="0">
              <a:buNone/>
            </a:pPr>
            <a:r>
              <a:rPr lang="en-US" sz="2000" dirty="0">
                <a:solidFill>
                  <a:srgbClr val="1A1A1A"/>
                </a:solidFill>
                <a:latin typeface="Consolas" pitchFamily="34" charset="0"/>
                <a:ea typeface="Consolas" pitchFamily="34" charset="-122"/>
                <a:cs typeface="Consolas" pitchFamily="34" charset="-120"/>
              </a:rPr>
              <a:t>  +  ⅓ × </a:t>
            </a:r>
            <a:pPr algn="ctr" indent="0" marL="0">
              <a:buNone/>
            </a:pPr>
            <a:r>
              <a:rPr lang="en-US" sz="2000" b="1" dirty="0">
                <a:solidFill>
                  <a:srgbClr val="9467BD"/>
                </a:solidFill>
                <a:latin typeface="Consolas" pitchFamily="34" charset="0"/>
                <a:ea typeface="Consolas" pitchFamily="34" charset="-122"/>
                <a:cs typeface="Consolas" pitchFamily="34" charset="-120"/>
              </a:rPr>
              <a:t>Vulnerability</a:t>
            </a:r>
            <a:endParaRPr lang="en-US" sz="2000" dirty="0"/>
          </a:p>
        </p:txBody>
      </p:sp>
      <p:sp>
        <p:nvSpPr>
          <p:cNvPr id="9" name="Shape 7"/>
          <p:cNvSpPr/>
          <p:nvPr/>
        </p:nvSpPr>
        <p:spPr>
          <a:xfrm>
            <a:off x="502920" y="3520440"/>
            <a:ext cx="182880" cy="960120"/>
          </a:xfrm>
          <a:prstGeom prst="rect">
            <a:avLst/>
          </a:prstGeom>
          <a:solidFill>
            <a:srgbClr val="D62728"/>
          </a:solidFill>
          <a:ln/>
        </p:spPr>
      </p:sp>
      <p:sp>
        <p:nvSpPr>
          <p:cNvPr id="10" name="Text 8"/>
          <p:cNvSpPr/>
          <p:nvPr/>
        </p:nvSpPr>
        <p:spPr>
          <a:xfrm>
            <a:off x="795528" y="3520440"/>
            <a:ext cx="3383280" cy="320040"/>
          </a:xfrm>
          <a:prstGeom prst="rect">
            <a:avLst/>
          </a:prstGeom>
          <a:noFill/>
          <a:ln/>
        </p:spPr>
        <p:txBody>
          <a:bodyPr wrap="square" lIns="0" tIns="0" rIns="0" bIns="0" rtlCol="0" anchor="ctr"/>
          <a:lstStyle/>
          <a:p>
            <a:pPr algn="l" indent="0" marL="0">
              <a:buNone/>
            </a:pPr>
            <a:r>
              <a:rPr lang="en-US" sz="1500" b="1" dirty="0">
                <a:solidFill>
                  <a:srgbClr val="1A1A1A"/>
                </a:solidFill>
                <a:latin typeface="Calibri" pitchFamily="34" charset="0"/>
                <a:ea typeface="Calibri" pitchFamily="34" charset="-122"/>
                <a:cs typeface="Calibri" pitchFamily="34" charset="-120"/>
              </a:rPr>
              <a:t>Burden</a:t>
            </a:r>
            <a:endParaRPr lang="en-US" sz="1500" dirty="0"/>
          </a:p>
        </p:txBody>
      </p:sp>
      <p:sp>
        <p:nvSpPr>
          <p:cNvPr id="11" name="Text 9"/>
          <p:cNvSpPr/>
          <p:nvPr/>
        </p:nvSpPr>
        <p:spPr>
          <a:xfrm>
            <a:off x="795528" y="3840480"/>
            <a:ext cx="3383280" cy="685800"/>
          </a:xfrm>
          <a:prstGeom prst="rect">
            <a:avLst/>
          </a:prstGeom>
          <a:noFill/>
          <a:ln/>
        </p:spPr>
        <p:txBody>
          <a:bodyPr wrap="square" lIns="0" tIns="0" rIns="0" bIns="0" rtlCol="0" anchor="t"/>
          <a:lstStyle/>
          <a:p>
            <a:pPr algn="l" indent="0" marL="0">
              <a:buNone/>
            </a:pPr>
            <a:r>
              <a:rPr lang="en-US" sz="1100" dirty="0">
                <a:solidFill>
                  <a:srgbClr val="5A5A5A"/>
                </a:solidFill>
                <a:latin typeface="Calibri" pitchFamily="34" charset="0"/>
                <a:ea typeface="Calibri" pitchFamily="34" charset="-122"/>
                <a:cs typeface="Calibri" pitchFamily="34" charset="-120"/>
              </a:rPr>
              <a:t>10 PLACES disease + access measures, polarity-aware</a:t>
            </a:r>
            <a:endParaRPr lang="en-US" sz="1100" dirty="0"/>
          </a:p>
        </p:txBody>
      </p:sp>
      <p:sp>
        <p:nvSpPr>
          <p:cNvPr id="12" name="Shape 10"/>
          <p:cNvSpPr/>
          <p:nvPr/>
        </p:nvSpPr>
        <p:spPr>
          <a:xfrm>
            <a:off x="4297680" y="3520440"/>
            <a:ext cx="182880" cy="960120"/>
          </a:xfrm>
          <a:prstGeom prst="rect">
            <a:avLst/>
          </a:prstGeom>
          <a:solidFill>
            <a:srgbClr val="1F77B4"/>
          </a:solidFill>
          <a:ln/>
        </p:spPr>
      </p:sp>
      <p:sp>
        <p:nvSpPr>
          <p:cNvPr id="13" name="Text 11"/>
          <p:cNvSpPr/>
          <p:nvPr/>
        </p:nvSpPr>
        <p:spPr>
          <a:xfrm>
            <a:off x="4590288" y="3520440"/>
            <a:ext cx="3383280" cy="320040"/>
          </a:xfrm>
          <a:prstGeom prst="rect">
            <a:avLst/>
          </a:prstGeom>
          <a:noFill/>
          <a:ln/>
        </p:spPr>
        <p:txBody>
          <a:bodyPr wrap="square" lIns="0" tIns="0" rIns="0" bIns="0" rtlCol="0" anchor="ctr"/>
          <a:lstStyle/>
          <a:p>
            <a:pPr algn="l" indent="0" marL="0">
              <a:buNone/>
            </a:pPr>
            <a:r>
              <a:rPr lang="en-US" sz="1500" b="1" dirty="0">
                <a:solidFill>
                  <a:srgbClr val="1A1A1A"/>
                </a:solidFill>
                <a:latin typeface="Calibri" pitchFamily="34" charset="0"/>
                <a:ea typeface="Calibri" pitchFamily="34" charset="-122"/>
                <a:cs typeface="Calibri" pitchFamily="34" charset="-120"/>
              </a:rPr>
              <a:t>Capacity</a:t>
            </a:r>
            <a:endParaRPr lang="en-US" sz="1500" dirty="0"/>
          </a:p>
        </p:txBody>
      </p:sp>
      <p:sp>
        <p:nvSpPr>
          <p:cNvPr id="14" name="Text 12"/>
          <p:cNvSpPr/>
          <p:nvPr/>
        </p:nvSpPr>
        <p:spPr>
          <a:xfrm>
            <a:off x="4590288" y="3840480"/>
            <a:ext cx="3383280" cy="685800"/>
          </a:xfrm>
          <a:prstGeom prst="rect">
            <a:avLst/>
          </a:prstGeom>
          <a:noFill/>
          <a:ln/>
        </p:spPr>
        <p:txBody>
          <a:bodyPr wrap="square" lIns="0" tIns="0" rIns="0" bIns="0" rtlCol="0" anchor="t"/>
          <a:lstStyle/>
          <a:p>
            <a:pPr algn="l" indent="0" marL="0">
              <a:buNone/>
            </a:pPr>
            <a:r>
              <a:rPr lang="en-US" sz="1100" dirty="0">
                <a:solidFill>
                  <a:srgbClr val="5A5A5A"/>
                </a:solidFill>
                <a:latin typeface="Calibri" pitchFamily="34" charset="0"/>
                <a:ea typeface="Calibri" pitchFamily="34" charset="-122"/>
                <a:cs typeface="Calibri" pitchFamily="34" charset="-120"/>
              </a:rPr>
              <a:t>primary-care providers per 10k, inverted</a:t>
            </a:r>
            <a:endParaRPr lang="en-US" sz="1100" dirty="0"/>
          </a:p>
        </p:txBody>
      </p:sp>
      <p:sp>
        <p:nvSpPr>
          <p:cNvPr id="15" name="Shape 13"/>
          <p:cNvSpPr/>
          <p:nvPr/>
        </p:nvSpPr>
        <p:spPr>
          <a:xfrm>
            <a:off x="8092440" y="3520440"/>
            <a:ext cx="182880" cy="960120"/>
          </a:xfrm>
          <a:prstGeom prst="rect">
            <a:avLst/>
          </a:prstGeom>
          <a:solidFill>
            <a:srgbClr val="9467BD"/>
          </a:solidFill>
          <a:ln/>
        </p:spPr>
      </p:sp>
      <p:sp>
        <p:nvSpPr>
          <p:cNvPr id="16" name="Text 14"/>
          <p:cNvSpPr/>
          <p:nvPr/>
        </p:nvSpPr>
        <p:spPr>
          <a:xfrm>
            <a:off x="8385048" y="3520440"/>
            <a:ext cx="3383280" cy="320040"/>
          </a:xfrm>
          <a:prstGeom prst="rect">
            <a:avLst/>
          </a:prstGeom>
          <a:noFill/>
          <a:ln/>
        </p:spPr>
        <p:txBody>
          <a:bodyPr wrap="square" lIns="0" tIns="0" rIns="0" bIns="0" rtlCol="0" anchor="ctr"/>
          <a:lstStyle/>
          <a:p>
            <a:pPr algn="l" indent="0" marL="0">
              <a:buNone/>
            </a:pPr>
            <a:r>
              <a:rPr lang="en-US" sz="1500" b="1" dirty="0">
                <a:solidFill>
                  <a:srgbClr val="1A1A1A"/>
                </a:solidFill>
                <a:latin typeface="Calibri" pitchFamily="34" charset="0"/>
                <a:ea typeface="Calibri" pitchFamily="34" charset="-122"/>
                <a:cs typeface="Calibri" pitchFamily="34" charset="-120"/>
              </a:rPr>
              <a:t>Vulnerability</a:t>
            </a:r>
            <a:endParaRPr lang="en-US" sz="1500" dirty="0"/>
          </a:p>
        </p:txBody>
      </p:sp>
      <p:sp>
        <p:nvSpPr>
          <p:cNvPr id="17" name="Text 15"/>
          <p:cNvSpPr/>
          <p:nvPr/>
        </p:nvSpPr>
        <p:spPr>
          <a:xfrm>
            <a:off x="8385048" y="3840480"/>
            <a:ext cx="3383280" cy="685800"/>
          </a:xfrm>
          <a:prstGeom prst="rect">
            <a:avLst/>
          </a:prstGeom>
          <a:noFill/>
          <a:ln/>
        </p:spPr>
        <p:txBody>
          <a:bodyPr wrap="square" lIns="0" tIns="0" rIns="0" bIns="0" rtlCol="0" anchor="t"/>
          <a:lstStyle/>
          <a:p>
            <a:pPr algn="l" indent="0" marL="0">
              <a:buNone/>
            </a:pPr>
            <a:r>
              <a:rPr lang="en-US" sz="1100" dirty="0">
                <a:solidFill>
                  <a:srgbClr val="5A5A5A"/>
                </a:solidFill>
                <a:latin typeface="Calibri" pitchFamily="34" charset="0"/>
                <a:ea typeface="Calibri" pitchFamily="34" charset="-122"/>
                <a:cs typeface="Calibri" pitchFamily="34" charset="-120"/>
              </a:rPr>
              <a:t>CDC SVI intra-state percentile</a:t>
            </a:r>
            <a:endParaRPr lang="en-US" sz="1100" dirty="0"/>
          </a:p>
        </p:txBody>
      </p:sp>
      <p:sp>
        <p:nvSpPr>
          <p:cNvPr id="18" name="Text 16"/>
          <p:cNvSpPr/>
          <p:nvPr/>
        </p:nvSpPr>
        <p:spPr>
          <a:xfrm>
            <a:off x="502920" y="4663440"/>
            <a:ext cx="11155680" cy="960120"/>
          </a:xfrm>
          <a:prstGeom prst="rect">
            <a:avLst/>
          </a:prstGeom>
          <a:noFill/>
          <a:ln/>
        </p:spPr>
        <p:txBody>
          <a:bodyPr wrap="square" lIns="0" tIns="0" rIns="0" bIns="0" rtlCol="0" anchor="t"/>
          <a:lstStyle/>
          <a:p>
            <a:pPr algn="l" indent="0" marL="0">
              <a:buNone/>
            </a:pPr>
            <a:r>
              <a:rPr lang="en-US" sz="1200" dirty="0">
                <a:solidFill>
                  <a:srgbClr val="1A1A1A"/>
                </a:solidFill>
                <a:latin typeface="Calibri" pitchFamily="34" charset="0"/>
                <a:ea typeface="Calibri" pitchFamily="34" charset="-122"/>
                <a:cs typeface="Calibri" pitchFamily="34" charset="-120"/>
              </a:rPr>
              <a:t>Each component is min-max normalized to 0–100 across Mississippi counties. Equal weights follow the County Health Rankings convention — we considered three alternative weighting schemes and rejected each. In a 48-hour analysis without stakeholder elicitation, equal weights are the only fully defensible choice.</a:t>
            </a:r>
            <a:endParaRPr lang="en-US" sz="1200" dirty="0"/>
          </a:p>
        </p:txBody>
      </p:sp>
      <p:sp>
        <p:nvSpPr>
          <p:cNvPr id="19" name="Shape 17"/>
          <p:cNvSpPr/>
          <p:nvPr/>
        </p:nvSpPr>
        <p:spPr>
          <a:xfrm>
            <a:off x="502920" y="5715000"/>
            <a:ext cx="11155680" cy="502920"/>
          </a:xfrm>
          <a:prstGeom prst="rect">
            <a:avLst/>
          </a:prstGeom>
          <a:solidFill>
            <a:srgbClr val="E8F0F2"/>
          </a:solidFill>
          <a:ln/>
        </p:spPr>
      </p:sp>
      <p:sp>
        <p:nvSpPr>
          <p:cNvPr id="20" name="Shape 18"/>
          <p:cNvSpPr/>
          <p:nvPr/>
        </p:nvSpPr>
        <p:spPr>
          <a:xfrm>
            <a:off x="502920" y="5715000"/>
            <a:ext cx="73152" cy="502920"/>
          </a:xfrm>
          <a:prstGeom prst="rect">
            <a:avLst/>
          </a:prstGeom>
          <a:solidFill>
            <a:srgbClr val="0D4F5C"/>
          </a:solidFill>
          <a:ln/>
        </p:spPr>
      </p:sp>
      <p:sp>
        <p:nvSpPr>
          <p:cNvPr id="21" name="Text 19"/>
          <p:cNvSpPr/>
          <p:nvPr/>
        </p:nvSpPr>
        <p:spPr>
          <a:xfrm>
            <a:off x="731520" y="5760720"/>
            <a:ext cx="10835640" cy="411480"/>
          </a:xfrm>
          <a:prstGeom prst="rect">
            <a:avLst/>
          </a:prstGeom>
          <a:noFill/>
          <a:ln/>
        </p:spPr>
        <p:txBody>
          <a:bodyPr wrap="square" lIns="0" tIns="0" rIns="0" bIns="0" rtlCol="0" anchor="ctr"/>
          <a:lstStyle/>
          <a:p>
            <a:pPr indent="0" marL="0">
              <a:spcAft>
                <a:spcPts val="200"/>
              </a:spcAft>
              <a:buNone/>
            </a:pPr>
            <a:r>
              <a:rPr lang="en-US" sz="1300" b="1" dirty="0">
                <a:solidFill>
                  <a:srgbClr val="0D4F5C"/>
                </a:solidFill>
                <a:latin typeface="Calibri" pitchFamily="34" charset="0"/>
                <a:ea typeface="Calibri" pitchFamily="34" charset="-122"/>
                <a:cs typeface="Calibri" pitchFamily="34" charset="-120"/>
              </a:rPr>
              <a:t>One SQL file</a:t>
            </a:r>
            <a:endParaRPr lang="en-US" sz="1300" dirty="0"/>
          </a:p>
          <a:p>
            <a:pPr indent="0" marL="0">
              <a:spcAft>
                <a:spcPts val="200"/>
              </a:spcAft>
              <a:buNone/>
            </a:pPr>
            <a:r>
              <a:rPr lang="en-US" sz="1300" dirty="0">
                <a:solidFill>
                  <a:srgbClr val="1A1A1A"/>
                </a:solidFill>
                <a:latin typeface="Calibri" pitchFamily="34" charset="0"/>
                <a:ea typeface="Calibri" pitchFamily="34" charset="-122"/>
                <a:cs typeface="Calibri" pitchFamily="34" charset="-120"/>
              </a:rPr>
              <a:t>  implements the full composite math — sql/q05_equity_gap_index.sql creates the v_equity_gap_index view that every downstream query reads from.</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65760"/>
            <a:ext cx="11155680" cy="777240"/>
          </a:xfrm>
          <a:prstGeom prst="rect">
            <a:avLst/>
          </a:prstGeom>
          <a:noFill/>
          <a:ln/>
        </p:spPr>
        <p:txBody>
          <a:bodyPr wrap="square" lIns="0" tIns="0" rIns="0" bIns="0" rtlCol="0" anchor="ctr"/>
          <a:lstStyle/>
          <a:p>
            <a:pPr algn="l" indent="0" marL="0">
              <a:buNone/>
            </a:pPr>
            <a:r>
              <a:rPr lang="en-US" sz="3200" b="1" dirty="0">
                <a:solidFill>
                  <a:srgbClr val="0D4F5C"/>
                </a:solidFill>
                <a:latin typeface="Calibri" pitchFamily="34" charset="0"/>
                <a:ea typeface="Calibri" pitchFamily="34" charset="-122"/>
                <a:cs typeface="Calibri" pitchFamily="34" charset="-120"/>
              </a:rPr>
              <a:t>Underservedness across Mississippi</a:t>
            </a:r>
            <a:endParaRPr lang="en-US" sz="3200" dirty="0"/>
          </a:p>
        </p:txBody>
      </p:sp>
      <p:sp>
        <p:nvSpPr>
          <p:cNvPr id="3" name="Shape 1"/>
          <p:cNvSpPr/>
          <p:nvPr/>
        </p:nvSpPr>
        <p:spPr>
          <a:xfrm>
            <a:off x="502920" y="6355080"/>
            <a:ext cx="11155680" cy="0"/>
          </a:xfrm>
          <a:prstGeom prst="line">
            <a:avLst/>
          </a:prstGeom>
          <a:noFill/>
          <a:ln w="6350">
            <a:solidFill>
              <a:srgbClr val="D8D8D8"/>
            </a:solidFill>
            <a:prstDash val="solid"/>
          </a:ln>
        </p:spPr>
      </p:sp>
      <p:sp>
        <p:nvSpPr>
          <p:cNvPr id="4" name="Text 2"/>
          <p:cNvSpPr/>
          <p:nvPr/>
        </p:nvSpPr>
        <p:spPr>
          <a:xfrm>
            <a:off x="502920" y="6446520"/>
            <a:ext cx="2743200" cy="274320"/>
          </a:xfrm>
          <a:prstGeom prst="rect">
            <a:avLst/>
          </a:prstGeom>
          <a:noFill/>
          <a:ln/>
        </p:spPr>
        <p:txBody>
          <a:bodyPr wrap="square" lIns="0" tIns="0" rIns="0" bIns="0" rtlCol="0" anchor="ctr"/>
          <a:lstStyle/>
          <a:p>
            <a:pPr algn="l" indent="0" marL="0">
              <a:buNone/>
            </a:pPr>
            <a:r>
              <a:rPr lang="en-US" sz="900" dirty="0">
                <a:solidFill>
                  <a:srgbClr val="5A5A5A"/>
                </a:solidFill>
                <a:latin typeface="Calibri" pitchFamily="34" charset="0"/>
                <a:ea typeface="Calibri" pitchFamily="34" charset="-122"/>
                <a:cs typeface="Calibri" pitchFamily="34" charset="-120"/>
              </a:rPr>
              <a:t>Slide 6 of 9</a:t>
            </a:r>
            <a:endParaRPr lang="en-US" sz="900" dirty="0"/>
          </a:p>
        </p:txBody>
      </p:sp>
      <p:sp>
        <p:nvSpPr>
          <p:cNvPr id="5" name="Text 3"/>
          <p:cNvSpPr/>
          <p:nvPr/>
        </p:nvSpPr>
        <p:spPr>
          <a:xfrm>
            <a:off x="8732520" y="6446520"/>
            <a:ext cx="2926080" cy="274320"/>
          </a:xfrm>
          <a:prstGeom prst="rect">
            <a:avLst/>
          </a:prstGeom>
          <a:noFill/>
          <a:ln/>
        </p:spPr>
        <p:txBody>
          <a:bodyPr wrap="square" lIns="0" tIns="0" rIns="0" bIns="0" rtlCol="0" anchor="ctr"/>
          <a:lstStyle/>
          <a:p>
            <a:pPr algn="r" indent="0" marL="0">
              <a:buNone/>
            </a:pPr>
            <a:r>
              <a:rPr lang="en-US" sz="900" i="1" dirty="0">
                <a:solidFill>
                  <a:srgbClr val="5A5A5A"/>
                </a:solidFill>
                <a:latin typeface="Calibri" pitchFamily="34" charset="0"/>
                <a:ea typeface="Calibri" pitchFamily="34" charset="-122"/>
                <a:cs typeface="Calibri" pitchFamily="34" charset="-120"/>
              </a:rPr>
              <a:t>The map</a:t>
            </a:r>
            <a:endParaRPr lang="en-US" sz="900" dirty="0"/>
          </a:p>
        </p:txBody>
      </p:sp>
      <p:pic>
        <p:nvPicPr>
          <p:cNvPr id="6" name="Image 0" descr="/home/claude/pptx_build/choropleth.png">    </p:cNvPr>
          <p:cNvPicPr>
            <a:picLocks noChangeAspect="1"/>
          </p:cNvPicPr>
          <p:nvPr/>
        </p:nvPicPr>
        <p:blipFill>
          <a:blip r:embed="rId1"/>
          <a:stretch>
            <a:fillRect/>
          </a:stretch>
        </p:blipFill>
        <p:spPr>
          <a:xfrm>
            <a:off x="2267712" y="1280160"/>
            <a:ext cx="7653528" cy="4846320"/>
          </a:xfrm>
          <a:prstGeom prst="rect">
            <a:avLst/>
          </a:prstGeom>
        </p:spPr>
      </p:pic>
      <p:sp>
        <p:nvSpPr>
          <p:cNvPr id="7" name="Text 4"/>
          <p:cNvSpPr/>
          <p:nvPr/>
        </p:nvSpPr>
        <p:spPr>
          <a:xfrm>
            <a:off x="502920" y="6172200"/>
            <a:ext cx="11155680" cy="182880"/>
          </a:xfrm>
          <a:prstGeom prst="rect">
            <a:avLst/>
          </a:prstGeom>
          <a:noFill/>
          <a:ln/>
        </p:spPr>
        <p:txBody>
          <a:bodyPr wrap="square" lIns="0" tIns="0" rIns="0" bIns="0" rtlCol="0" anchor="ctr"/>
          <a:lstStyle/>
          <a:p>
            <a:pPr algn="ctr" indent="0" marL="0">
              <a:buNone/>
            </a:pPr>
            <a:r>
              <a:rPr lang="en-US" sz="1100" i="1" dirty="0">
                <a:solidFill>
                  <a:srgbClr val="5A5A5A"/>
                </a:solidFill>
                <a:latin typeface="Calibri" pitchFamily="34" charset="0"/>
                <a:ea typeface="Calibri" pitchFamily="34" charset="-122"/>
                <a:cs typeface="Calibri" pitchFamily="34" charset="-120"/>
              </a:rPr>
              <a:t>Counties shaded green → red by EGI score. Top 10 most underserved counties outlined in black. Issaquena (#1) annotated.</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65760"/>
            <a:ext cx="11155680" cy="777240"/>
          </a:xfrm>
          <a:prstGeom prst="rect">
            <a:avLst/>
          </a:prstGeom>
          <a:noFill/>
          <a:ln/>
        </p:spPr>
        <p:txBody>
          <a:bodyPr wrap="square" lIns="0" tIns="0" rIns="0" bIns="0" rtlCol="0" anchor="ctr"/>
          <a:lstStyle/>
          <a:p>
            <a:pPr algn="l" indent="0" marL="0">
              <a:buNone/>
            </a:pPr>
            <a:r>
              <a:rPr lang="en-US" sz="3200" b="1" dirty="0">
                <a:solidFill>
                  <a:srgbClr val="0D4F5C"/>
                </a:solidFill>
                <a:latin typeface="Calibri" pitchFamily="34" charset="0"/>
                <a:ea typeface="Calibri" pitchFamily="34" charset="-122"/>
                <a:cs typeface="Calibri" pitchFamily="34" charset="-120"/>
              </a:rPr>
              <a:t>Top 10 most underserved counties</a:t>
            </a:r>
            <a:endParaRPr lang="en-US" sz="3200" dirty="0"/>
          </a:p>
        </p:txBody>
      </p:sp>
      <p:sp>
        <p:nvSpPr>
          <p:cNvPr id="3" name="Shape 1"/>
          <p:cNvSpPr/>
          <p:nvPr/>
        </p:nvSpPr>
        <p:spPr>
          <a:xfrm>
            <a:off x="502920" y="6355080"/>
            <a:ext cx="11155680" cy="0"/>
          </a:xfrm>
          <a:prstGeom prst="line">
            <a:avLst/>
          </a:prstGeom>
          <a:noFill/>
          <a:ln w="6350">
            <a:solidFill>
              <a:srgbClr val="D8D8D8"/>
            </a:solidFill>
            <a:prstDash val="solid"/>
          </a:ln>
        </p:spPr>
      </p:sp>
      <p:sp>
        <p:nvSpPr>
          <p:cNvPr id="4" name="Text 2"/>
          <p:cNvSpPr/>
          <p:nvPr/>
        </p:nvSpPr>
        <p:spPr>
          <a:xfrm>
            <a:off x="502920" y="6446520"/>
            <a:ext cx="2743200" cy="274320"/>
          </a:xfrm>
          <a:prstGeom prst="rect">
            <a:avLst/>
          </a:prstGeom>
          <a:noFill/>
          <a:ln/>
        </p:spPr>
        <p:txBody>
          <a:bodyPr wrap="square" lIns="0" tIns="0" rIns="0" bIns="0" rtlCol="0" anchor="ctr"/>
          <a:lstStyle/>
          <a:p>
            <a:pPr algn="l" indent="0" marL="0">
              <a:buNone/>
            </a:pPr>
            <a:r>
              <a:rPr lang="en-US" sz="900" dirty="0">
                <a:solidFill>
                  <a:srgbClr val="5A5A5A"/>
                </a:solidFill>
                <a:latin typeface="Calibri" pitchFamily="34" charset="0"/>
                <a:ea typeface="Calibri" pitchFamily="34" charset="-122"/>
                <a:cs typeface="Calibri" pitchFamily="34" charset="-120"/>
              </a:rPr>
              <a:t>Slide 7 of 9</a:t>
            </a:r>
            <a:endParaRPr lang="en-US" sz="900" dirty="0"/>
          </a:p>
        </p:txBody>
      </p:sp>
      <p:sp>
        <p:nvSpPr>
          <p:cNvPr id="5" name="Text 3"/>
          <p:cNvSpPr/>
          <p:nvPr/>
        </p:nvSpPr>
        <p:spPr>
          <a:xfrm>
            <a:off x="8732520" y="6446520"/>
            <a:ext cx="2926080" cy="274320"/>
          </a:xfrm>
          <a:prstGeom prst="rect">
            <a:avLst/>
          </a:prstGeom>
          <a:noFill/>
          <a:ln/>
        </p:spPr>
        <p:txBody>
          <a:bodyPr wrap="square" lIns="0" tIns="0" rIns="0" bIns="0" rtlCol="0" anchor="ctr"/>
          <a:lstStyle/>
          <a:p>
            <a:pPr algn="r" indent="0" marL="0">
              <a:buNone/>
            </a:pPr>
            <a:r>
              <a:rPr lang="en-US" sz="900" i="1" dirty="0">
                <a:solidFill>
                  <a:srgbClr val="5A5A5A"/>
                </a:solidFill>
                <a:latin typeface="Calibri" pitchFamily="34" charset="0"/>
                <a:ea typeface="Calibri" pitchFamily="34" charset="-122"/>
                <a:cs typeface="Calibri" pitchFamily="34" charset="-120"/>
              </a:rPr>
              <a:t>Top 10 + drivers</a:t>
            </a:r>
            <a:endParaRPr lang="en-US" sz="900" dirty="0"/>
          </a:p>
        </p:txBody>
      </p:sp>
      <p:pic>
        <p:nvPicPr>
          <p:cNvPr id="6" name="Image 0" descr="/home/claude/pptx_build/top10_bar.png">    </p:cNvPr>
          <p:cNvPicPr>
            <a:picLocks noChangeAspect="1"/>
          </p:cNvPicPr>
          <p:nvPr/>
        </p:nvPicPr>
        <p:blipFill>
          <a:blip r:embed="rId1"/>
          <a:srcRect l="-20588" r="-20588" t="0" b="0"/>
          <a:stretch/>
        </p:blipFill>
        <p:spPr>
          <a:xfrm>
            <a:off x="502920" y="1417320"/>
            <a:ext cx="6583680" cy="4663440"/>
          </a:xfrm>
          <a:prstGeom prst="rect">
            <a:avLst/>
          </a:prstGeom>
        </p:spPr>
      </p:pic>
      <p:sp>
        <p:nvSpPr>
          <p:cNvPr id="7" name="Text 4"/>
          <p:cNvSpPr/>
          <p:nvPr/>
        </p:nvSpPr>
        <p:spPr>
          <a:xfrm>
            <a:off x="7315200" y="1417320"/>
            <a:ext cx="4389120" cy="457200"/>
          </a:xfrm>
          <a:prstGeom prst="rect">
            <a:avLst/>
          </a:prstGeom>
          <a:noFill/>
          <a:ln/>
        </p:spPr>
        <p:txBody>
          <a:bodyPr wrap="square" lIns="0" tIns="0" rIns="0" bIns="0" rtlCol="0" anchor="ctr"/>
          <a:lstStyle/>
          <a:p>
            <a:pPr algn="l" indent="0" marL="0">
              <a:buNone/>
            </a:pPr>
            <a:r>
              <a:rPr lang="en-US" sz="1800" b="1" dirty="0">
                <a:solidFill>
                  <a:srgbClr val="0D4F5C"/>
                </a:solidFill>
                <a:latin typeface="Calibri" pitchFamily="34" charset="0"/>
                <a:ea typeface="Calibri" pitchFamily="34" charset="-122"/>
                <a:cs typeface="Calibri" pitchFamily="34" charset="-120"/>
              </a:rPr>
              <a:t>EGI scores 73 → 87</a:t>
            </a:r>
            <a:endParaRPr lang="en-US" sz="1800" dirty="0"/>
          </a:p>
        </p:txBody>
      </p:sp>
      <p:sp>
        <p:nvSpPr>
          <p:cNvPr id="8" name="Text 5"/>
          <p:cNvSpPr/>
          <p:nvPr/>
        </p:nvSpPr>
        <p:spPr>
          <a:xfrm>
            <a:off x="7315200" y="1874520"/>
            <a:ext cx="4389120" cy="685800"/>
          </a:xfrm>
          <a:prstGeom prst="rect">
            <a:avLst/>
          </a:prstGeom>
          <a:noFill/>
          <a:ln/>
        </p:spPr>
        <p:txBody>
          <a:bodyPr wrap="square" lIns="0" tIns="0" rIns="0" bIns="0" rtlCol="0" anchor="t"/>
          <a:lstStyle/>
          <a:p>
            <a:pPr algn="l" indent="0" marL="0">
              <a:buNone/>
            </a:pPr>
            <a:r>
              <a:rPr lang="en-US" sz="1200" dirty="0">
                <a:solidFill>
                  <a:srgbClr val="5A5A5A"/>
                </a:solidFill>
                <a:latin typeface="Calibri" pitchFamily="34" charset="0"/>
                <a:ea typeface="Calibri" pitchFamily="34" charset="-122"/>
                <a:cs typeface="Calibri" pitchFamily="34" charset="-120"/>
              </a:rPr>
              <a:t>Each bar shows the three component contributions to the composite.</a:t>
            </a:r>
            <a:endParaRPr lang="en-US" sz="1200" dirty="0"/>
          </a:p>
        </p:txBody>
      </p:sp>
      <p:sp>
        <p:nvSpPr>
          <p:cNvPr id="9" name="Shape 6"/>
          <p:cNvSpPr/>
          <p:nvPr/>
        </p:nvSpPr>
        <p:spPr>
          <a:xfrm>
            <a:off x="7315200" y="2788920"/>
            <a:ext cx="164592" cy="164592"/>
          </a:xfrm>
          <a:prstGeom prst="ellipse">
            <a:avLst/>
          </a:prstGeom>
          <a:solidFill>
            <a:srgbClr val="0D4F5C"/>
          </a:solidFill>
          <a:ln/>
        </p:spPr>
      </p:sp>
      <p:sp>
        <p:nvSpPr>
          <p:cNvPr id="10" name="Text 7"/>
          <p:cNvSpPr/>
          <p:nvPr/>
        </p:nvSpPr>
        <p:spPr>
          <a:xfrm>
            <a:off x="7589520" y="2697480"/>
            <a:ext cx="4114800" cy="777240"/>
          </a:xfrm>
          <a:prstGeom prst="rect">
            <a:avLst/>
          </a:prstGeom>
          <a:noFill/>
          <a:ln/>
        </p:spPr>
        <p:txBody>
          <a:bodyPr wrap="square" lIns="0" tIns="0" rIns="0" bIns="0" rtlCol="0" anchor="t"/>
          <a:lstStyle/>
          <a:p>
            <a:pPr algn="l" indent="0" marL="0">
              <a:buNone/>
            </a:pPr>
            <a:r>
              <a:rPr lang="en-US" sz="1100" b="1" dirty="0">
                <a:solidFill>
                  <a:srgbClr val="0D4F5C"/>
                </a:solidFill>
                <a:latin typeface="Calibri" pitchFamily="34" charset="0"/>
                <a:ea typeface="Calibri" pitchFamily="34" charset="-122"/>
                <a:cs typeface="Calibri" pitchFamily="34" charset="-120"/>
              </a:rPr>
              <a:t>8 of top 10</a:t>
            </a:r>
            <a:pPr algn="l" indent="0" marL="0">
              <a:buNone/>
            </a:pPr>
            <a:r>
              <a:rPr lang="en-US" sz="1100" dirty="0">
                <a:solidFill>
                  <a:srgbClr val="1A1A1A"/>
                </a:solidFill>
                <a:latin typeface="Calibri" pitchFamily="34" charset="0"/>
                <a:ea typeface="Calibri" pitchFamily="34" charset="-122"/>
                <a:cs typeface="Calibri" pitchFamily="34" charset="-120"/>
              </a:rPr>
              <a:t> are multi-component dominant — high on all three pillars, not driven by a single extreme.</a:t>
            </a:r>
            <a:endParaRPr lang="en-US" sz="1100" dirty="0"/>
          </a:p>
        </p:txBody>
      </p:sp>
      <p:sp>
        <p:nvSpPr>
          <p:cNvPr id="11" name="Shape 8"/>
          <p:cNvSpPr/>
          <p:nvPr/>
        </p:nvSpPr>
        <p:spPr>
          <a:xfrm>
            <a:off x="7315200" y="3657600"/>
            <a:ext cx="164592" cy="164592"/>
          </a:xfrm>
          <a:prstGeom prst="ellipse">
            <a:avLst/>
          </a:prstGeom>
          <a:solidFill>
            <a:srgbClr val="0D4F5C"/>
          </a:solidFill>
          <a:ln/>
        </p:spPr>
      </p:sp>
      <p:sp>
        <p:nvSpPr>
          <p:cNvPr id="12" name="Text 9"/>
          <p:cNvSpPr/>
          <p:nvPr/>
        </p:nvSpPr>
        <p:spPr>
          <a:xfrm>
            <a:off x="7589520" y="3566160"/>
            <a:ext cx="4114800" cy="777240"/>
          </a:xfrm>
          <a:prstGeom prst="rect">
            <a:avLst/>
          </a:prstGeom>
          <a:noFill/>
          <a:ln/>
        </p:spPr>
        <p:txBody>
          <a:bodyPr wrap="square" lIns="0" tIns="0" rIns="0" bIns="0" rtlCol="0" anchor="t"/>
          <a:lstStyle/>
          <a:p>
            <a:pPr algn="l" indent="0" marL="0">
              <a:buNone/>
            </a:pPr>
            <a:r>
              <a:rPr lang="en-US" sz="1100" b="1" dirty="0">
                <a:solidFill>
                  <a:srgbClr val="0D4F5C"/>
                </a:solidFill>
                <a:latin typeface="Calibri" pitchFamily="34" charset="0"/>
                <a:ea typeface="Calibri" pitchFamily="34" charset="-122"/>
                <a:cs typeface="Calibri" pitchFamily="34" charset="-120"/>
              </a:rPr>
              <a:t>8 of top 10</a:t>
            </a:r>
            <a:pPr algn="l" indent="0" marL="0">
              <a:buNone/>
            </a:pPr>
            <a:r>
              <a:rPr lang="en-US" sz="1100" dirty="0">
                <a:solidFill>
                  <a:srgbClr val="1A1A1A"/>
                </a:solidFill>
                <a:latin typeface="Calibri" pitchFamily="34" charset="0"/>
                <a:ea typeface="Calibri" pitchFamily="34" charset="-122"/>
                <a:cs typeface="Calibri" pitchFamily="34" charset="-120"/>
              </a:rPr>
              <a:t> are Delta counties. Noxubee and Kemper are rural eastern counties.</a:t>
            </a:r>
            <a:endParaRPr lang="en-US" sz="1100" dirty="0"/>
          </a:p>
        </p:txBody>
      </p:sp>
      <p:sp>
        <p:nvSpPr>
          <p:cNvPr id="13" name="Shape 10"/>
          <p:cNvSpPr/>
          <p:nvPr/>
        </p:nvSpPr>
        <p:spPr>
          <a:xfrm>
            <a:off x="7315200" y="4526280"/>
            <a:ext cx="164592" cy="164592"/>
          </a:xfrm>
          <a:prstGeom prst="ellipse">
            <a:avLst/>
          </a:prstGeom>
          <a:solidFill>
            <a:srgbClr val="0D4F5C"/>
          </a:solidFill>
          <a:ln/>
        </p:spPr>
      </p:sp>
      <p:sp>
        <p:nvSpPr>
          <p:cNvPr id="14" name="Text 11"/>
          <p:cNvSpPr/>
          <p:nvPr/>
        </p:nvSpPr>
        <p:spPr>
          <a:xfrm>
            <a:off x="7589520" y="4434840"/>
            <a:ext cx="4114800" cy="777240"/>
          </a:xfrm>
          <a:prstGeom prst="rect">
            <a:avLst/>
          </a:prstGeom>
          <a:noFill/>
          <a:ln/>
        </p:spPr>
        <p:txBody>
          <a:bodyPr wrap="square" lIns="0" tIns="0" rIns="0" bIns="0" rtlCol="0" anchor="t"/>
          <a:lstStyle/>
          <a:p>
            <a:pPr algn="l" indent="0" marL="0">
              <a:buNone/>
            </a:pPr>
            <a:r>
              <a:rPr lang="en-US" sz="1100" b="1" dirty="0">
                <a:solidFill>
                  <a:srgbClr val="0D4F5C"/>
                </a:solidFill>
                <a:latin typeface="Calibri" pitchFamily="34" charset="0"/>
                <a:ea typeface="Calibri" pitchFamily="34" charset="-122"/>
                <a:cs typeface="Calibri" pitchFamily="34" charset="-120"/>
              </a:rPr>
              <a:t>Obesity + high blood pressure</a:t>
            </a:r>
            <a:pPr algn="l" indent="0" marL="0">
              <a:buNone/>
            </a:pPr>
            <a:r>
              <a:rPr lang="en-US" sz="1100" dirty="0">
                <a:solidFill>
                  <a:srgbClr val="1A1A1A"/>
                </a:solidFill>
                <a:latin typeface="Calibri" pitchFamily="34" charset="0"/>
                <a:ea typeface="Calibri" pitchFamily="34" charset="-122"/>
                <a:cs typeface="Calibri" pitchFamily="34" charset="-120"/>
              </a:rPr>
              <a:t> are the top burden drivers across nearly every top-EGI county.</a:t>
            </a:r>
            <a:endParaRPr lang="en-US" sz="1100" dirty="0"/>
          </a:p>
        </p:txBody>
      </p:sp>
      <p:sp>
        <p:nvSpPr>
          <p:cNvPr id="15" name="Shape 12"/>
          <p:cNvSpPr/>
          <p:nvPr/>
        </p:nvSpPr>
        <p:spPr>
          <a:xfrm>
            <a:off x="7315200" y="5394960"/>
            <a:ext cx="164592" cy="164592"/>
          </a:xfrm>
          <a:prstGeom prst="ellipse">
            <a:avLst/>
          </a:prstGeom>
          <a:solidFill>
            <a:srgbClr val="0D4F5C"/>
          </a:solidFill>
          <a:ln/>
        </p:spPr>
      </p:sp>
      <p:sp>
        <p:nvSpPr>
          <p:cNvPr id="16" name="Text 13"/>
          <p:cNvSpPr/>
          <p:nvPr/>
        </p:nvSpPr>
        <p:spPr>
          <a:xfrm>
            <a:off x="7589520" y="5303520"/>
            <a:ext cx="4114800" cy="777240"/>
          </a:xfrm>
          <a:prstGeom prst="rect">
            <a:avLst/>
          </a:prstGeom>
          <a:noFill/>
          <a:ln/>
        </p:spPr>
        <p:txBody>
          <a:bodyPr wrap="square" lIns="0" tIns="0" rIns="0" bIns="0" rtlCol="0" anchor="t"/>
          <a:lstStyle/>
          <a:p>
            <a:pPr algn="l" indent="0" marL="0">
              <a:buNone/>
            </a:pPr>
            <a:r>
              <a:rPr lang="en-US" sz="1100" b="1" dirty="0">
                <a:solidFill>
                  <a:srgbClr val="0D4F5C"/>
                </a:solidFill>
                <a:latin typeface="Calibri" pitchFamily="34" charset="0"/>
                <a:ea typeface="Calibri" pitchFamily="34" charset="-122"/>
                <a:cs typeface="Calibri" pitchFamily="34" charset="-120"/>
              </a:rPr>
              <a:t>Query q08</a:t>
            </a:r>
            <a:pPr algn="l" indent="0" marL="0">
              <a:buNone/>
            </a:pPr>
            <a:r>
              <a:rPr lang="en-US" sz="1100" dirty="0">
                <a:solidFill>
                  <a:srgbClr val="1A1A1A"/>
                </a:solidFill>
                <a:latin typeface="Calibri" pitchFamily="34" charset="0"/>
                <a:ea typeface="Calibri" pitchFamily="34" charset="-122"/>
                <a:cs typeface="Calibri" pitchFamily="34" charset="-120"/>
              </a:rPr>
              <a:t> identifies the specific drivers per county for stakeholder use.</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65760"/>
            <a:ext cx="11155680" cy="777240"/>
          </a:xfrm>
          <a:prstGeom prst="rect">
            <a:avLst/>
          </a:prstGeom>
          <a:noFill/>
          <a:ln/>
        </p:spPr>
        <p:txBody>
          <a:bodyPr wrap="square" lIns="0" tIns="0" rIns="0" bIns="0" rtlCol="0" anchor="ctr"/>
          <a:lstStyle/>
          <a:p>
            <a:pPr algn="l" indent="0" marL="0">
              <a:buNone/>
            </a:pPr>
            <a:r>
              <a:rPr lang="en-US" sz="3200" b="1" dirty="0">
                <a:solidFill>
                  <a:srgbClr val="0D4F5C"/>
                </a:solidFill>
                <a:latin typeface="Calibri" pitchFamily="34" charset="0"/>
                <a:ea typeface="Calibri" pitchFamily="34" charset="-122"/>
                <a:cs typeface="Calibri" pitchFamily="34" charset="-120"/>
              </a:rPr>
              <a:t>What this means for the Gulf South Center</a:t>
            </a:r>
            <a:endParaRPr lang="en-US" sz="3200" dirty="0"/>
          </a:p>
        </p:txBody>
      </p:sp>
      <p:sp>
        <p:nvSpPr>
          <p:cNvPr id="3" name="Shape 1"/>
          <p:cNvSpPr/>
          <p:nvPr/>
        </p:nvSpPr>
        <p:spPr>
          <a:xfrm>
            <a:off x="502920" y="6355080"/>
            <a:ext cx="11155680" cy="0"/>
          </a:xfrm>
          <a:prstGeom prst="line">
            <a:avLst/>
          </a:prstGeom>
          <a:noFill/>
          <a:ln w="6350">
            <a:solidFill>
              <a:srgbClr val="D8D8D8"/>
            </a:solidFill>
            <a:prstDash val="solid"/>
          </a:ln>
        </p:spPr>
      </p:sp>
      <p:sp>
        <p:nvSpPr>
          <p:cNvPr id="4" name="Text 2"/>
          <p:cNvSpPr/>
          <p:nvPr/>
        </p:nvSpPr>
        <p:spPr>
          <a:xfrm>
            <a:off x="502920" y="6446520"/>
            <a:ext cx="2743200" cy="274320"/>
          </a:xfrm>
          <a:prstGeom prst="rect">
            <a:avLst/>
          </a:prstGeom>
          <a:noFill/>
          <a:ln/>
        </p:spPr>
        <p:txBody>
          <a:bodyPr wrap="square" lIns="0" tIns="0" rIns="0" bIns="0" rtlCol="0" anchor="ctr"/>
          <a:lstStyle/>
          <a:p>
            <a:pPr algn="l" indent="0" marL="0">
              <a:buNone/>
            </a:pPr>
            <a:r>
              <a:rPr lang="en-US" sz="900" dirty="0">
                <a:solidFill>
                  <a:srgbClr val="5A5A5A"/>
                </a:solidFill>
                <a:latin typeface="Calibri" pitchFamily="34" charset="0"/>
                <a:ea typeface="Calibri" pitchFamily="34" charset="-122"/>
                <a:cs typeface="Calibri" pitchFamily="34" charset="-120"/>
              </a:rPr>
              <a:t>Slide 8 of 9</a:t>
            </a:r>
            <a:endParaRPr lang="en-US" sz="900" dirty="0"/>
          </a:p>
        </p:txBody>
      </p:sp>
      <p:sp>
        <p:nvSpPr>
          <p:cNvPr id="5" name="Text 3"/>
          <p:cNvSpPr/>
          <p:nvPr/>
        </p:nvSpPr>
        <p:spPr>
          <a:xfrm>
            <a:off x="8732520" y="6446520"/>
            <a:ext cx="2926080" cy="274320"/>
          </a:xfrm>
          <a:prstGeom prst="rect">
            <a:avLst/>
          </a:prstGeom>
          <a:noFill/>
          <a:ln/>
        </p:spPr>
        <p:txBody>
          <a:bodyPr wrap="square" lIns="0" tIns="0" rIns="0" bIns="0" rtlCol="0" anchor="ctr"/>
          <a:lstStyle/>
          <a:p>
            <a:pPr algn="r" indent="0" marL="0">
              <a:buNone/>
            </a:pPr>
            <a:r>
              <a:rPr lang="en-US" sz="900" i="1" dirty="0">
                <a:solidFill>
                  <a:srgbClr val="5A5A5A"/>
                </a:solidFill>
                <a:latin typeface="Calibri" pitchFamily="34" charset="0"/>
                <a:ea typeface="Calibri" pitchFamily="34" charset="-122"/>
                <a:cs typeface="Calibri" pitchFamily="34" charset="-120"/>
              </a:rPr>
              <a:t>Use case</a:t>
            </a:r>
            <a:endParaRPr lang="en-US" sz="900" dirty="0"/>
          </a:p>
        </p:txBody>
      </p:sp>
      <p:sp>
        <p:nvSpPr>
          <p:cNvPr id="6" name="Shape 4"/>
          <p:cNvSpPr/>
          <p:nvPr/>
        </p:nvSpPr>
        <p:spPr>
          <a:xfrm>
            <a:off x="502920" y="1371600"/>
            <a:ext cx="5486400" cy="1600200"/>
          </a:xfrm>
          <a:prstGeom prst="rect">
            <a:avLst/>
          </a:prstGeom>
          <a:solidFill>
            <a:srgbClr val="E8F0F2"/>
          </a:solidFill>
          <a:ln/>
        </p:spPr>
      </p:sp>
      <p:sp>
        <p:nvSpPr>
          <p:cNvPr id="7" name="Shape 5"/>
          <p:cNvSpPr/>
          <p:nvPr/>
        </p:nvSpPr>
        <p:spPr>
          <a:xfrm>
            <a:off x="502920" y="1371600"/>
            <a:ext cx="91440" cy="1600200"/>
          </a:xfrm>
          <a:prstGeom prst="rect">
            <a:avLst/>
          </a:prstGeom>
          <a:solidFill>
            <a:srgbClr val="0D4F5C"/>
          </a:solidFill>
          <a:ln/>
        </p:spPr>
      </p:sp>
      <p:sp>
        <p:nvSpPr>
          <p:cNvPr id="8" name="Text 6"/>
          <p:cNvSpPr/>
          <p:nvPr/>
        </p:nvSpPr>
        <p:spPr>
          <a:xfrm>
            <a:off x="777240" y="1508760"/>
            <a:ext cx="5074920" cy="384048"/>
          </a:xfrm>
          <a:prstGeom prst="rect">
            <a:avLst/>
          </a:prstGeom>
          <a:noFill/>
          <a:ln/>
        </p:spPr>
        <p:txBody>
          <a:bodyPr wrap="square" lIns="0" tIns="0" rIns="0" bIns="0" rtlCol="0" anchor="ctr"/>
          <a:lstStyle/>
          <a:p>
            <a:pPr algn="l" indent="0" marL="0">
              <a:buNone/>
            </a:pPr>
            <a:r>
              <a:rPr lang="en-US" sz="1600" b="1" dirty="0">
                <a:solidFill>
                  <a:srgbClr val="0D4F5C"/>
                </a:solidFill>
                <a:latin typeface="Calibri" pitchFamily="34" charset="0"/>
                <a:ea typeface="Calibri" pitchFamily="34" charset="-122"/>
                <a:cs typeface="Calibri" pitchFamily="34" charset="-120"/>
              </a:rPr>
              <a:t>Prioritization</a:t>
            </a:r>
            <a:endParaRPr lang="en-US" sz="1600" dirty="0"/>
          </a:p>
        </p:txBody>
      </p:sp>
      <p:sp>
        <p:nvSpPr>
          <p:cNvPr id="9" name="Text 7"/>
          <p:cNvSpPr/>
          <p:nvPr/>
        </p:nvSpPr>
        <p:spPr>
          <a:xfrm>
            <a:off x="777240" y="1901952"/>
            <a:ext cx="5074920" cy="960120"/>
          </a:xfrm>
          <a:prstGeom prst="rect">
            <a:avLst/>
          </a:prstGeom>
          <a:noFill/>
          <a:ln/>
        </p:spPr>
        <p:txBody>
          <a:bodyPr wrap="square" lIns="0" tIns="0" rIns="0" bIns="0" rtlCol="0" anchor="t"/>
          <a:lstStyle/>
          <a:p>
            <a:pPr algn="l" indent="0" marL="0">
              <a:buNone/>
            </a:pPr>
            <a:r>
              <a:rPr lang="en-US" sz="1200" dirty="0">
                <a:solidFill>
                  <a:srgbClr val="1A1A1A"/>
                </a:solidFill>
                <a:latin typeface="Calibri" pitchFamily="34" charset="0"/>
                <a:ea typeface="Calibri" pitchFamily="34" charset="-122"/>
                <a:cs typeface="Calibri" pitchFamily="34" charset="-120"/>
              </a:rPr>
              <a:t>A one-page county ranking with all three components visible — ready for a steering committee meeting.</a:t>
            </a:r>
            <a:endParaRPr lang="en-US" sz="1200" dirty="0"/>
          </a:p>
        </p:txBody>
      </p:sp>
      <p:sp>
        <p:nvSpPr>
          <p:cNvPr id="10" name="Shape 8"/>
          <p:cNvSpPr/>
          <p:nvPr/>
        </p:nvSpPr>
        <p:spPr>
          <a:xfrm>
            <a:off x="6172200" y="1371600"/>
            <a:ext cx="5486400" cy="1600200"/>
          </a:xfrm>
          <a:prstGeom prst="rect">
            <a:avLst/>
          </a:prstGeom>
          <a:solidFill>
            <a:srgbClr val="E8F0F2"/>
          </a:solidFill>
          <a:ln/>
        </p:spPr>
      </p:sp>
      <p:sp>
        <p:nvSpPr>
          <p:cNvPr id="11" name="Shape 9"/>
          <p:cNvSpPr/>
          <p:nvPr/>
        </p:nvSpPr>
        <p:spPr>
          <a:xfrm>
            <a:off x="6172200" y="1371600"/>
            <a:ext cx="91440" cy="1600200"/>
          </a:xfrm>
          <a:prstGeom prst="rect">
            <a:avLst/>
          </a:prstGeom>
          <a:solidFill>
            <a:srgbClr val="0D4F5C"/>
          </a:solidFill>
          <a:ln/>
        </p:spPr>
      </p:sp>
      <p:sp>
        <p:nvSpPr>
          <p:cNvPr id="12" name="Text 10"/>
          <p:cNvSpPr/>
          <p:nvPr/>
        </p:nvSpPr>
        <p:spPr>
          <a:xfrm>
            <a:off x="6446520" y="1508760"/>
            <a:ext cx="5074920" cy="384048"/>
          </a:xfrm>
          <a:prstGeom prst="rect">
            <a:avLst/>
          </a:prstGeom>
          <a:noFill/>
          <a:ln/>
        </p:spPr>
        <p:txBody>
          <a:bodyPr wrap="square" lIns="0" tIns="0" rIns="0" bIns="0" rtlCol="0" anchor="ctr"/>
          <a:lstStyle/>
          <a:p>
            <a:pPr algn="l" indent="0" marL="0">
              <a:buNone/>
            </a:pPr>
            <a:r>
              <a:rPr lang="en-US" sz="1600" b="1" dirty="0">
                <a:solidFill>
                  <a:srgbClr val="0D4F5C"/>
                </a:solidFill>
                <a:latin typeface="Calibri" pitchFamily="34" charset="0"/>
                <a:ea typeface="Calibri" pitchFamily="34" charset="-122"/>
                <a:cs typeface="Calibri" pitchFamily="34" charset="-120"/>
              </a:rPr>
              <a:t>Longitudinal tracking</a:t>
            </a:r>
            <a:endParaRPr lang="en-US" sz="1600" dirty="0"/>
          </a:p>
        </p:txBody>
      </p:sp>
      <p:sp>
        <p:nvSpPr>
          <p:cNvPr id="13" name="Text 11"/>
          <p:cNvSpPr/>
          <p:nvPr/>
        </p:nvSpPr>
        <p:spPr>
          <a:xfrm>
            <a:off x="6446520" y="1901952"/>
            <a:ext cx="5074920" cy="960120"/>
          </a:xfrm>
          <a:prstGeom prst="rect">
            <a:avLst/>
          </a:prstGeom>
          <a:noFill/>
          <a:ln/>
        </p:spPr>
        <p:txBody>
          <a:bodyPr wrap="square" lIns="0" tIns="0" rIns="0" bIns="0" rtlCol="0" anchor="t"/>
          <a:lstStyle/>
          <a:p>
            <a:pPr algn="l" indent="0" marL="0">
              <a:buNone/>
            </a:pPr>
            <a:r>
              <a:rPr lang="en-US" sz="1200" dirty="0">
                <a:solidFill>
                  <a:srgbClr val="1A1A1A"/>
                </a:solidFill>
                <a:latin typeface="Calibri" pitchFamily="34" charset="0"/>
                <a:ea typeface="Calibri" pitchFamily="34" charset="-122"/>
                <a:cs typeface="Calibri" pitchFamily="34" charset="-120"/>
              </a:rPr>
              <a:t>The pipeline regenerates from the latest federal data in ~10 seconds, so the index updates as PLACES, SVI, and HRSA update annually.</a:t>
            </a:r>
            <a:endParaRPr lang="en-US" sz="1200" dirty="0"/>
          </a:p>
        </p:txBody>
      </p:sp>
      <p:sp>
        <p:nvSpPr>
          <p:cNvPr id="14" name="Shape 12"/>
          <p:cNvSpPr/>
          <p:nvPr/>
        </p:nvSpPr>
        <p:spPr>
          <a:xfrm>
            <a:off x="502920" y="3154680"/>
            <a:ext cx="5486400" cy="1600200"/>
          </a:xfrm>
          <a:prstGeom prst="rect">
            <a:avLst/>
          </a:prstGeom>
          <a:solidFill>
            <a:srgbClr val="E8F0F2"/>
          </a:solidFill>
          <a:ln/>
        </p:spPr>
      </p:sp>
      <p:sp>
        <p:nvSpPr>
          <p:cNvPr id="15" name="Shape 13"/>
          <p:cNvSpPr/>
          <p:nvPr/>
        </p:nvSpPr>
        <p:spPr>
          <a:xfrm>
            <a:off x="502920" y="3154680"/>
            <a:ext cx="91440" cy="1600200"/>
          </a:xfrm>
          <a:prstGeom prst="rect">
            <a:avLst/>
          </a:prstGeom>
          <a:solidFill>
            <a:srgbClr val="0D4F5C"/>
          </a:solidFill>
          <a:ln/>
        </p:spPr>
      </p:sp>
      <p:sp>
        <p:nvSpPr>
          <p:cNvPr id="16" name="Text 14"/>
          <p:cNvSpPr/>
          <p:nvPr/>
        </p:nvSpPr>
        <p:spPr>
          <a:xfrm>
            <a:off x="777240" y="3291840"/>
            <a:ext cx="5074920" cy="384048"/>
          </a:xfrm>
          <a:prstGeom prst="rect">
            <a:avLst/>
          </a:prstGeom>
          <a:noFill/>
          <a:ln/>
        </p:spPr>
        <p:txBody>
          <a:bodyPr wrap="square" lIns="0" tIns="0" rIns="0" bIns="0" rtlCol="0" anchor="ctr"/>
          <a:lstStyle/>
          <a:p>
            <a:pPr algn="l" indent="0" marL="0">
              <a:buNone/>
            </a:pPr>
            <a:r>
              <a:rPr lang="en-US" sz="1600" b="1" dirty="0">
                <a:solidFill>
                  <a:srgbClr val="0D4F5C"/>
                </a:solidFill>
                <a:latin typeface="Calibri" pitchFamily="34" charset="0"/>
                <a:ea typeface="Calibri" pitchFamily="34" charset="-122"/>
                <a:cs typeface="Calibri" pitchFamily="34" charset="-120"/>
              </a:rPr>
              <a:t>Defensible advocacy</a:t>
            </a:r>
            <a:endParaRPr lang="en-US" sz="1600" dirty="0"/>
          </a:p>
        </p:txBody>
      </p:sp>
      <p:sp>
        <p:nvSpPr>
          <p:cNvPr id="17" name="Text 15"/>
          <p:cNvSpPr/>
          <p:nvPr/>
        </p:nvSpPr>
        <p:spPr>
          <a:xfrm>
            <a:off x="777240" y="3685032"/>
            <a:ext cx="5074920" cy="960120"/>
          </a:xfrm>
          <a:prstGeom prst="rect">
            <a:avLst/>
          </a:prstGeom>
          <a:noFill/>
          <a:ln/>
        </p:spPr>
        <p:txBody>
          <a:bodyPr wrap="square" lIns="0" tIns="0" rIns="0" bIns="0" rtlCol="0" anchor="t"/>
          <a:lstStyle/>
          <a:p>
            <a:pPr algn="l" indent="0" marL="0">
              <a:buNone/>
            </a:pPr>
            <a:r>
              <a:rPr lang="en-US" sz="1200" dirty="0">
                <a:solidFill>
                  <a:srgbClr val="1A1A1A"/>
                </a:solidFill>
                <a:latin typeface="Calibri" pitchFamily="34" charset="0"/>
                <a:ea typeface="Calibri" pitchFamily="34" charset="-122"/>
                <a:cs typeface="Calibri" pitchFamily="34" charset="-120"/>
              </a:rPr>
              <a:t>When the Center allocates resources, the receipts are right there: three federal datasets, traceable methodology, every decision numbered and logged.</a:t>
            </a:r>
            <a:endParaRPr lang="en-US" sz="1200" dirty="0"/>
          </a:p>
        </p:txBody>
      </p:sp>
      <p:sp>
        <p:nvSpPr>
          <p:cNvPr id="18" name="Shape 16"/>
          <p:cNvSpPr/>
          <p:nvPr/>
        </p:nvSpPr>
        <p:spPr>
          <a:xfrm>
            <a:off x="6172200" y="3154680"/>
            <a:ext cx="5486400" cy="1600200"/>
          </a:xfrm>
          <a:prstGeom prst="rect">
            <a:avLst/>
          </a:prstGeom>
          <a:solidFill>
            <a:srgbClr val="E8F0F2"/>
          </a:solidFill>
          <a:ln/>
        </p:spPr>
      </p:sp>
      <p:sp>
        <p:nvSpPr>
          <p:cNvPr id="19" name="Shape 17"/>
          <p:cNvSpPr/>
          <p:nvPr/>
        </p:nvSpPr>
        <p:spPr>
          <a:xfrm>
            <a:off x="6172200" y="3154680"/>
            <a:ext cx="91440" cy="1600200"/>
          </a:xfrm>
          <a:prstGeom prst="rect">
            <a:avLst/>
          </a:prstGeom>
          <a:solidFill>
            <a:srgbClr val="0D4F5C"/>
          </a:solidFill>
          <a:ln/>
        </p:spPr>
      </p:sp>
      <p:sp>
        <p:nvSpPr>
          <p:cNvPr id="20" name="Text 18"/>
          <p:cNvSpPr/>
          <p:nvPr/>
        </p:nvSpPr>
        <p:spPr>
          <a:xfrm>
            <a:off x="6446520" y="3291840"/>
            <a:ext cx="5074920" cy="384048"/>
          </a:xfrm>
          <a:prstGeom prst="rect">
            <a:avLst/>
          </a:prstGeom>
          <a:noFill/>
          <a:ln/>
        </p:spPr>
        <p:txBody>
          <a:bodyPr wrap="square" lIns="0" tIns="0" rIns="0" bIns="0" rtlCol="0" anchor="ctr"/>
          <a:lstStyle/>
          <a:p>
            <a:pPr algn="l" indent="0" marL="0">
              <a:buNone/>
            </a:pPr>
            <a:r>
              <a:rPr lang="en-US" sz="1600" b="1" dirty="0">
                <a:solidFill>
                  <a:srgbClr val="0D4F5C"/>
                </a:solidFill>
                <a:latin typeface="Calibri" pitchFamily="34" charset="0"/>
                <a:ea typeface="Calibri" pitchFamily="34" charset="-122"/>
                <a:cs typeface="Calibri" pitchFamily="34" charset="-120"/>
              </a:rPr>
              <a:t>Methodology, not just numbers</a:t>
            </a:r>
            <a:endParaRPr lang="en-US" sz="1600" dirty="0"/>
          </a:p>
        </p:txBody>
      </p:sp>
      <p:sp>
        <p:nvSpPr>
          <p:cNvPr id="21" name="Text 19"/>
          <p:cNvSpPr/>
          <p:nvPr/>
        </p:nvSpPr>
        <p:spPr>
          <a:xfrm>
            <a:off x="6446520" y="3685032"/>
            <a:ext cx="5074920" cy="960120"/>
          </a:xfrm>
          <a:prstGeom prst="rect">
            <a:avLst/>
          </a:prstGeom>
          <a:noFill/>
          <a:ln/>
        </p:spPr>
        <p:txBody>
          <a:bodyPr wrap="square" lIns="0" tIns="0" rIns="0" bIns="0" rtlCol="0" anchor="t"/>
          <a:lstStyle/>
          <a:p>
            <a:pPr algn="l" indent="0" marL="0">
              <a:buNone/>
            </a:pPr>
            <a:r>
              <a:rPr lang="en-US" sz="1200" dirty="0">
                <a:solidFill>
                  <a:srgbClr val="1A1A1A"/>
                </a:solidFill>
                <a:latin typeface="Calibri" pitchFamily="34" charset="0"/>
                <a:ea typeface="Calibri" pitchFamily="34" charset="-122"/>
                <a:cs typeface="Calibri" pitchFamily="34" charset="-120"/>
              </a:rPr>
              <a:t>The codebase is a starting point if the Center ever extends the index to other Gulf South states — AL, LA, AR all have the same federal inputs.</a:t>
            </a:r>
            <a:endParaRPr lang="en-US" sz="1200" dirty="0"/>
          </a:p>
        </p:txBody>
      </p:sp>
      <p:sp>
        <p:nvSpPr>
          <p:cNvPr id="22" name="Shape 20"/>
          <p:cNvSpPr/>
          <p:nvPr/>
        </p:nvSpPr>
        <p:spPr>
          <a:xfrm>
            <a:off x="502920" y="5074920"/>
            <a:ext cx="11155680" cy="1097280"/>
          </a:xfrm>
          <a:prstGeom prst="rect">
            <a:avLst/>
          </a:prstGeom>
          <a:solidFill>
            <a:srgbClr val="FFFFFF"/>
          </a:solidFill>
          <a:ln w="12700">
            <a:solidFill>
              <a:srgbClr val="0D4F5C"/>
            </a:solidFill>
            <a:prstDash val="solid"/>
          </a:ln>
        </p:spPr>
      </p:sp>
      <p:sp>
        <p:nvSpPr>
          <p:cNvPr id="23" name="Text 21"/>
          <p:cNvSpPr/>
          <p:nvPr/>
        </p:nvSpPr>
        <p:spPr>
          <a:xfrm>
            <a:off x="777240" y="5074920"/>
            <a:ext cx="10607040" cy="1097280"/>
          </a:xfrm>
          <a:prstGeom prst="rect">
            <a:avLst/>
          </a:prstGeom>
          <a:noFill/>
          <a:ln/>
        </p:spPr>
        <p:txBody>
          <a:bodyPr wrap="square" lIns="0" tIns="0" rIns="0" bIns="0" rtlCol="0" anchor="ctr"/>
          <a:lstStyle/>
          <a:p>
            <a:pPr algn="l" indent="0" marL="0">
              <a:buNone/>
            </a:pPr>
            <a:r>
              <a:rPr lang="en-US" sz="1400" dirty="0">
                <a:solidFill>
                  <a:srgbClr val="1A1A1A"/>
                </a:solidFill>
                <a:latin typeface="Calibri" pitchFamily="34" charset="0"/>
                <a:ea typeface="Calibri" pitchFamily="34" charset="-122"/>
                <a:cs typeface="Calibri" pitchFamily="34" charset="-120"/>
              </a:rPr>
              <a:t>Built in 48 hours, solo, with no prior Mississippi public-health background. </a:t>
            </a:r>
            <a:pPr algn="l" indent="0" marL="0">
              <a:buNone/>
            </a:pPr>
            <a:r>
              <a:rPr lang="en-US" sz="1400" b="1" dirty="0">
                <a:solidFill>
                  <a:srgbClr val="0D4F5C"/>
                </a:solidFill>
                <a:latin typeface="Calibri" pitchFamily="34" charset="0"/>
                <a:ea typeface="Calibri" pitchFamily="34" charset="-122"/>
                <a:cs typeface="Calibri" pitchFamily="34" charset="-120"/>
              </a:rPr>
              <a:t>With a summer at the Gulf South Center, this is the kind of work I want to do at depth.</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65760"/>
            <a:ext cx="11155680" cy="777240"/>
          </a:xfrm>
          <a:prstGeom prst="rect">
            <a:avLst/>
          </a:prstGeom>
          <a:noFill/>
          <a:ln/>
        </p:spPr>
        <p:txBody>
          <a:bodyPr wrap="square" lIns="0" tIns="0" rIns="0" bIns="0" rtlCol="0" anchor="ctr"/>
          <a:lstStyle/>
          <a:p>
            <a:pPr algn="l" indent="0" marL="0">
              <a:buNone/>
            </a:pPr>
            <a:r>
              <a:rPr lang="en-US" sz="3200" b="1" dirty="0">
                <a:solidFill>
                  <a:srgbClr val="0D4F5C"/>
                </a:solidFill>
                <a:latin typeface="Calibri" pitchFamily="34" charset="0"/>
                <a:ea typeface="Calibri" pitchFamily="34" charset="-122"/>
                <a:cs typeface="Calibri" pitchFamily="34" charset="-120"/>
              </a:rPr>
              <a:t>Limitations — and an honest validation story</a:t>
            </a:r>
            <a:endParaRPr lang="en-US" sz="3200" dirty="0"/>
          </a:p>
        </p:txBody>
      </p:sp>
      <p:sp>
        <p:nvSpPr>
          <p:cNvPr id="3" name="Shape 1"/>
          <p:cNvSpPr/>
          <p:nvPr/>
        </p:nvSpPr>
        <p:spPr>
          <a:xfrm>
            <a:off x="502920" y="6355080"/>
            <a:ext cx="11155680" cy="0"/>
          </a:xfrm>
          <a:prstGeom prst="line">
            <a:avLst/>
          </a:prstGeom>
          <a:noFill/>
          <a:ln w="6350">
            <a:solidFill>
              <a:srgbClr val="D8D8D8"/>
            </a:solidFill>
            <a:prstDash val="solid"/>
          </a:ln>
        </p:spPr>
      </p:sp>
      <p:sp>
        <p:nvSpPr>
          <p:cNvPr id="4" name="Text 2"/>
          <p:cNvSpPr/>
          <p:nvPr/>
        </p:nvSpPr>
        <p:spPr>
          <a:xfrm>
            <a:off x="502920" y="6446520"/>
            <a:ext cx="2743200" cy="274320"/>
          </a:xfrm>
          <a:prstGeom prst="rect">
            <a:avLst/>
          </a:prstGeom>
          <a:noFill/>
          <a:ln/>
        </p:spPr>
        <p:txBody>
          <a:bodyPr wrap="square" lIns="0" tIns="0" rIns="0" bIns="0" rtlCol="0" anchor="ctr"/>
          <a:lstStyle/>
          <a:p>
            <a:pPr algn="l" indent="0" marL="0">
              <a:buNone/>
            </a:pPr>
            <a:r>
              <a:rPr lang="en-US" sz="900" dirty="0">
                <a:solidFill>
                  <a:srgbClr val="5A5A5A"/>
                </a:solidFill>
                <a:latin typeface="Calibri" pitchFamily="34" charset="0"/>
                <a:ea typeface="Calibri" pitchFamily="34" charset="-122"/>
                <a:cs typeface="Calibri" pitchFamily="34" charset="-120"/>
              </a:rPr>
              <a:t>Slide 9 of 9</a:t>
            </a:r>
            <a:endParaRPr lang="en-US" sz="900" dirty="0"/>
          </a:p>
        </p:txBody>
      </p:sp>
      <p:sp>
        <p:nvSpPr>
          <p:cNvPr id="5" name="Text 3"/>
          <p:cNvSpPr/>
          <p:nvPr/>
        </p:nvSpPr>
        <p:spPr>
          <a:xfrm>
            <a:off x="8732520" y="6446520"/>
            <a:ext cx="2926080" cy="274320"/>
          </a:xfrm>
          <a:prstGeom prst="rect">
            <a:avLst/>
          </a:prstGeom>
          <a:noFill/>
          <a:ln/>
        </p:spPr>
        <p:txBody>
          <a:bodyPr wrap="square" lIns="0" tIns="0" rIns="0" bIns="0" rtlCol="0" anchor="ctr"/>
          <a:lstStyle/>
          <a:p>
            <a:pPr algn="r" indent="0" marL="0">
              <a:buNone/>
            </a:pPr>
            <a:r>
              <a:rPr lang="en-US" sz="900" i="1" dirty="0">
                <a:solidFill>
                  <a:srgbClr val="5A5A5A"/>
                </a:solidFill>
                <a:latin typeface="Calibri" pitchFamily="34" charset="0"/>
                <a:ea typeface="Calibri" pitchFamily="34" charset="-122"/>
                <a:cs typeface="Calibri" pitchFamily="34" charset="-120"/>
              </a:rPr>
              <a:t>Limitations &amp; Q&amp;A</a:t>
            </a:r>
            <a:endParaRPr lang="en-US" sz="900" dirty="0"/>
          </a:p>
        </p:txBody>
      </p:sp>
      <p:sp>
        <p:nvSpPr>
          <p:cNvPr id="6" name="Shape 4"/>
          <p:cNvSpPr/>
          <p:nvPr/>
        </p:nvSpPr>
        <p:spPr>
          <a:xfrm>
            <a:off x="502920" y="1371600"/>
            <a:ext cx="5486400" cy="1280160"/>
          </a:xfrm>
          <a:prstGeom prst="rect">
            <a:avLst/>
          </a:prstGeom>
          <a:solidFill>
            <a:srgbClr val="F7F7F7"/>
          </a:solidFill>
          <a:ln/>
        </p:spPr>
      </p:sp>
      <p:sp>
        <p:nvSpPr>
          <p:cNvPr id="7" name="Shape 5"/>
          <p:cNvSpPr/>
          <p:nvPr/>
        </p:nvSpPr>
        <p:spPr>
          <a:xfrm>
            <a:off x="502920" y="1371600"/>
            <a:ext cx="73152" cy="1280160"/>
          </a:xfrm>
          <a:prstGeom prst="rect">
            <a:avLst/>
          </a:prstGeom>
          <a:solidFill>
            <a:srgbClr val="5A5A5A"/>
          </a:solidFill>
          <a:ln/>
        </p:spPr>
      </p:sp>
      <p:sp>
        <p:nvSpPr>
          <p:cNvPr id="8" name="Text 6"/>
          <p:cNvSpPr/>
          <p:nvPr/>
        </p:nvSpPr>
        <p:spPr>
          <a:xfrm>
            <a:off x="731520" y="1463040"/>
            <a:ext cx="5166360" cy="365760"/>
          </a:xfrm>
          <a:prstGeom prst="rect">
            <a:avLst/>
          </a:prstGeom>
          <a:noFill/>
          <a:ln/>
        </p:spPr>
        <p:txBody>
          <a:bodyPr wrap="square" lIns="0" tIns="0" rIns="0" bIns="0" rtlCol="0" anchor="ctr"/>
          <a:lstStyle/>
          <a:p>
            <a:pPr algn="l" indent="0" marL="0">
              <a:buNone/>
            </a:pPr>
            <a:r>
              <a:rPr lang="en-US" sz="1300" b="1" dirty="0">
                <a:solidFill>
                  <a:srgbClr val="1A1A1A"/>
                </a:solidFill>
                <a:latin typeface="Calibri" pitchFamily="34" charset="0"/>
                <a:ea typeface="Calibri" pitchFamily="34" charset="-122"/>
                <a:cs typeface="Calibri" pitchFamily="34" charset="-120"/>
              </a:rPr>
              <a:t>Burden ↔ Vulnerability correlation</a:t>
            </a:r>
            <a:endParaRPr lang="en-US" sz="1300" dirty="0"/>
          </a:p>
        </p:txBody>
      </p:sp>
      <p:sp>
        <p:nvSpPr>
          <p:cNvPr id="9" name="Text 7"/>
          <p:cNvSpPr/>
          <p:nvPr/>
        </p:nvSpPr>
        <p:spPr>
          <a:xfrm>
            <a:off x="731520" y="1828800"/>
            <a:ext cx="5166360" cy="777240"/>
          </a:xfrm>
          <a:prstGeom prst="rect">
            <a:avLst/>
          </a:prstGeom>
          <a:noFill/>
          <a:ln/>
        </p:spPr>
        <p:txBody>
          <a:bodyPr wrap="square" lIns="0" tIns="0" rIns="0" bIns="0" rtlCol="0" anchor="t"/>
          <a:lstStyle/>
          <a:p>
            <a:pPr algn="l" indent="0" marL="0">
              <a:buNone/>
            </a:pPr>
            <a:r>
              <a:rPr lang="en-US" sz="1100" dirty="0">
                <a:solidFill>
                  <a:srgbClr val="5A5A5A"/>
                </a:solidFill>
                <a:latin typeface="Calibri" pitchFamily="34" charset="0"/>
                <a:ea typeface="Calibri" pitchFamily="34" charset="-122"/>
                <a:cs typeface="Calibri" pitchFamily="34" charset="-120"/>
              </a:rPr>
              <a:t>r = 0.734 (partial double-counting). Both pick up structural disadvantage in Delta counties.</a:t>
            </a:r>
            <a:endParaRPr lang="en-US" sz="1100" dirty="0"/>
          </a:p>
        </p:txBody>
      </p:sp>
      <p:sp>
        <p:nvSpPr>
          <p:cNvPr id="10" name="Shape 8"/>
          <p:cNvSpPr/>
          <p:nvPr/>
        </p:nvSpPr>
        <p:spPr>
          <a:xfrm>
            <a:off x="6172200" y="1371600"/>
            <a:ext cx="5486400" cy="1280160"/>
          </a:xfrm>
          <a:prstGeom prst="rect">
            <a:avLst/>
          </a:prstGeom>
          <a:solidFill>
            <a:srgbClr val="E5F0E9"/>
          </a:solidFill>
          <a:ln/>
        </p:spPr>
      </p:sp>
      <p:sp>
        <p:nvSpPr>
          <p:cNvPr id="11" name="Shape 9"/>
          <p:cNvSpPr/>
          <p:nvPr/>
        </p:nvSpPr>
        <p:spPr>
          <a:xfrm>
            <a:off x="6172200" y="1371600"/>
            <a:ext cx="73152" cy="1280160"/>
          </a:xfrm>
          <a:prstGeom prst="rect">
            <a:avLst/>
          </a:prstGeom>
          <a:solidFill>
            <a:srgbClr val="2A8050"/>
          </a:solidFill>
          <a:ln/>
        </p:spPr>
      </p:sp>
      <p:sp>
        <p:nvSpPr>
          <p:cNvPr id="12" name="Text 10"/>
          <p:cNvSpPr/>
          <p:nvPr/>
        </p:nvSpPr>
        <p:spPr>
          <a:xfrm>
            <a:off x="6400800" y="1463040"/>
            <a:ext cx="5166360" cy="365760"/>
          </a:xfrm>
          <a:prstGeom prst="rect">
            <a:avLst/>
          </a:prstGeom>
          <a:noFill/>
          <a:ln/>
        </p:spPr>
        <p:txBody>
          <a:bodyPr wrap="square" lIns="0" tIns="0" rIns="0" bIns="0" rtlCol="0" anchor="ctr"/>
          <a:lstStyle/>
          <a:p>
            <a:pPr algn="l" indent="0" marL="0">
              <a:buNone/>
            </a:pPr>
            <a:r>
              <a:rPr lang="en-US" sz="1300" b="1" dirty="0">
                <a:solidFill>
                  <a:srgbClr val="1A1A1A"/>
                </a:solidFill>
                <a:latin typeface="Calibri" pitchFamily="34" charset="0"/>
                <a:ea typeface="Calibri" pitchFamily="34" charset="-122"/>
                <a:cs typeface="Calibri" pitchFamily="34" charset="-120"/>
              </a:rPr>
              <a:t>Capacity independence (strength)</a:t>
            </a:r>
            <a:endParaRPr lang="en-US" sz="1300" dirty="0"/>
          </a:p>
        </p:txBody>
      </p:sp>
      <p:sp>
        <p:nvSpPr>
          <p:cNvPr id="13" name="Text 11"/>
          <p:cNvSpPr/>
          <p:nvPr/>
        </p:nvSpPr>
        <p:spPr>
          <a:xfrm>
            <a:off x="6400800" y="1828800"/>
            <a:ext cx="5166360" cy="777240"/>
          </a:xfrm>
          <a:prstGeom prst="rect">
            <a:avLst/>
          </a:prstGeom>
          <a:noFill/>
          <a:ln/>
        </p:spPr>
        <p:txBody>
          <a:bodyPr wrap="square" lIns="0" tIns="0" rIns="0" bIns="0" rtlCol="0" anchor="t"/>
          <a:lstStyle/>
          <a:p>
            <a:pPr algn="l" indent="0" marL="0">
              <a:buNone/>
            </a:pPr>
            <a:r>
              <a:rPr lang="en-US" sz="1100" dirty="0">
                <a:solidFill>
                  <a:srgbClr val="5A5A5A"/>
                </a:solidFill>
                <a:latin typeface="Calibri" pitchFamily="34" charset="0"/>
                <a:ea typeface="Calibri" pitchFamily="34" charset="-122"/>
                <a:cs typeface="Calibri" pitchFamily="34" charset="-120"/>
              </a:rPr>
              <a:t>Capacity ↔ Vulnerability r = 0.064. The provider-scarcity signal is genuinely independent of social vulnerability.</a:t>
            </a:r>
            <a:endParaRPr lang="en-US" sz="1100" dirty="0"/>
          </a:p>
        </p:txBody>
      </p:sp>
      <p:sp>
        <p:nvSpPr>
          <p:cNvPr id="14" name="Shape 12"/>
          <p:cNvSpPr/>
          <p:nvPr/>
        </p:nvSpPr>
        <p:spPr>
          <a:xfrm>
            <a:off x="502920" y="2788920"/>
            <a:ext cx="5486400" cy="1280160"/>
          </a:xfrm>
          <a:prstGeom prst="rect">
            <a:avLst/>
          </a:prstGeom>
          <a:solidFill>
            <a:srgbClr val="F7F7F7"/>
          </a:solidFill>
          <a:ln/>
        </p:spPr>
      </p:sp>
      <p:sp>
        <p:nvSpPr>
          <p:cNvPr id="15" name="Shape 13"/>
          <p:cNvSpPr/>
          <p:nvPr/>
        </p:nvSpPr>
        <p:spPr>
          <a:xfrm>
            <a:off x="502920" y="2788920"/>
            <a:ext cx="73152" cy="1280160"/>
          </a:xfrm>
          <a:prstGeom prst="rect">
            <a:avLst/>
          </a:prstGeom>
          <a:solidFill>
            <a:srgbClr val="5A5A5A"/>
          </a:solidFill>
          <a:ln/>
        </p:spPr>
      </p:sp>
      <p:sp>
        <p:nvSpPr>
          <p:cNvPr id="16" name="Text 14"/>
          <p:cNvSpPr/>
          <p:nvPr/>
        </p:nvSpPr>
        <p:spPr>
          <a:xfrm>
            <a:off x="731520" y="2880360"/>
            <a:ext cx="5166360" cy="365760"/>
          </a:xfrm>
          <a:prstGeom prst="rect">
            <a:avLst/>
          </a:prstGeom>
          <a:noFill/>
          <a:ln/>
        </p:spPr>
        <p:txBody>
          <a:bodyPr wrap="square" lIns="0" tIns="0" rIns="0" bIns="0" rtlCol="0" anchor="ctr"/>
          <a:lstStyle/>
          <a:p>
            <a:pPr algn="l" indent="0" marL="0">
              <a:buNone/>
            </a:pPr>
            <a:r>
              <a:rPr lang="en-US" sz="1300" b="1" dirty="0">
                <a:solidFill>
                  <a:srgbClr val="1A1A1A"/>
                </a:solidFill>
                <a:latin typeface="Calibri" pitchFamily="34" charset="0"/>
                <a:ea typeface="Calibri" pitchFamily="34" charset="-122"/>
                <a:cs typeface="Calibri" pitchFamily="34" charset="-120"/>
              </a:rPr>
              <a:t>No population floor</a:t>
            </a:r>
            <a:endParaRPr lang="en-US" sz="1300" dirty="0"/>
          </a:p>
        </p:txBody>
      </p:sp>
      <p:sp>
        <p:nvSpPr>
          <p:cNvPr id="17" name="Text 15"/>
          <p:cNvSpPr/>
          <p:nvPr/>
        </p:nvSpPr>
        <p:spPr>
          <a:xfrm>
            <a:off x="731520" y="3246120"/>
            <a:ext cx="5166360" cy="777240"/>
          </a:xfrm>
          <a:prstGeom prst="rect">
            <a:avLst/>
          </a:prstGeom>
          <a:noFill/>
          <a:ln/>
        </p:spPr>
        <p:txBody>
          <a:bodyPr wrap="square" lIns="0" tIns="0" rIns="0" bIns="0" rtlCol="0" anchor="t"/>
          <a:lstStyle/>
          <a:p>
            <a:pPr algn="l" indent="0" marL="0">
              <a:buNone/>
            </a:pPr>
            <a:r>
              <a:rPr lang="en-US" sz="1100" dirty="0">
                <a:solidFill>
                  <a:srgbClr val="5A5A5A"/>
                </a:solidFill>
                <a:latin typeface="Calibri" pitchFamily="34" charset="0"/>
                <a:ea typeface="Calibri" pitchFamily="34" charset="-122"/>
                <a:cs typeface="Calibri" pitchFamily="34" charset="-120"/>
              </a:rPr>
              <a:t>Issaquena (pop 1,206) ranks #1. The federal HPSA convergence makes this validation, not concern.</a:t>
            </a:r>
            <a:endParaRPr lang="en-US" sz="1100" dirty="0"/>
          </a:p>
        </p:txBody>
      </p:sp>
      <p:sp>
        <p:nvSpPr>
          <p:cNvPr id="18" name="Shape 16"/>
          <p:cNvSpPr/>
          <p:nvPr/>
        </p:nvSpPr>
        <p:spPr>
          <a:xfrm>
            <a:off x="6172200" y="2788920"/>
            <a:ext cx="5486400" cy="1280160"/>
          </a:xfrm>
          <a:prstGeom prst="rect">
            <a:avLst/>
          </a:prstGeom>
          <a:solidFill>
            <a:srgbClr val="F7F7F7"/>
          </a:solidFill>
          <a:ln/>
        </p:spPr>
      </p:sp>
      <p:sp>
        <p:nvSpPr>
          <p:cNvPr id="19" name="Shape 17"/>
          <p:cNvSpPr/>
          <p:nvPr/>
        </p:nvSpPr>
        <p:spPr>
          <a:xfrm>
            <a:off x="6172200" y="2788920"/>
            <a:ext cx="73152" cy="1280160"/>
          </a:xfrm>
          <a:prstGeom prst="rect">
            <a:avLst/>
          </a:prstGeom>
          <a:solidFill>
            <a:srgbClr val="5A5A5A"/>
          </a:solidFill>
          <a:ln/>
        </p:spPr>
      </p:sp>
      <p:sp>
        <p:nvSpPr>
          <p:cNvPr id="20" name="Text 18"/>
          <p:cNvSpPr/>
          <p:nvPr/>
        </p:nvSpPr>
        <p:spPr>
          <a:xfrm>
            <a:off x="6400800" y="2880360"/>
            <a:ext cx="5166360" cy="365760"/>
          </a:xfrm>
          <a:prstGeom prst="rect">
            <a:avLst/>
          </a:prstGeom>
          <a:noFill/>
          <a:ln/>
        </p:spPr>
        <p:txBody>
          <a:bodyPr wrap="square" lIns="0" tIns="0" rIns="0" bIns="0" rtlCol="0" anchor="ctr"/>
          <a:lstStyle/>
          <a:p>
            <a:pPr algn="l" indent="0" marL="0">
              <a:buNone/>
            </a:pPr>
            <a:r>
              <a:rPr lang="en-US" sz="1300" b="1" dirty="0">
                <a:solidFill>
                  <a:srgbClr val="1A1A1A"/>
                </a:solidFill>
                <a:latin typeface="Calibri" pitchFamily="34" charset="0"/>
                <a:ea typeface="Calibri" pitchFamily="34" charset="-122"/>
                <a:cs typeface="Calibri" pitchFamily="34" charset="-120"/>
              </a:rPr>
              <a:t>Iterative validation story</a:t>
            </a:r>
            <a:endParaRPr lang="en-US" sz="1300" dirty="0"/>
          </a:p>
        </p:txBody>
      </p:sp>
      <p:sp>
        <p:nvSpPr>
          <p:cNvPr id="21" name="Text 19"/>
          <p:cNvSpPr/>
          <p:nvPr/>
        </p:nvSpPr>
        <p:spPr>
          <a:xfrm>
            <a:off x="6400800" y="3246120"/>
            <a:ext cx="5166360" cy="777240"/>
          </a:xfrm>
          <a:prstGeom prst="rect">
            <a:avLst/>
          </a:prstGeom>
          <a:noFill/>
          <a:ln/>
        </p:spPr>
        <p:txBody>
          <a:bodyPr wrap="square" lIns="0" tIns="0" rIns="0" bIns="0" rtlCol="0" anchor="t"/>
          <a:lstStyle/>
          <a:p>
            <a:pPr algn="l" indent="0" marL="0">
              <a:buNone/>
            </a:pPr>
            <a:r>
              <a:rPr lang="en-US" sz="1100" dirty="0">
                <a:solidFill>
                  <a:srgbClr val="5A5A5A"/>
                </a:solidFill>
                <a:latin typeface="Calibri" pitchFamily="34" charset="0"/>
                <a:ea typeface="Calibri" pitchFamily="34" charset="-122"/>
                <a:cs typeface="Calibri" pitchFamily="34" charset="-120"/>
              </a:rPr>
              <a:t>Initial ZIP→county rule produced zero providers for 20% of counties. Caught mid-analysis, fixed via area-weighted attribution. Zero-count: 16 → 1.</a:t>
            </a:r>
            <a:endParaRPr lang="en-US" sz="1100" dirty="0"/>
          </a:p>
        </p:txBody>
      </p:sp>
      <p:sp>
        <p:nvSpPr>
          <p:cNvPr id="22" name="Text 20"/>
          <p:cNvSpPr/>
          <p:nvPr/>
        </p:nvSpPr>
        <p:spPr>
          <a:xfrm>
            <a:off x="502920" y="4297680"/>
            <a:ext cx="11155680" cy="777240"/>
          </a:xfrm>
          <a:prstGeom prst="rect">
            <a:avLst/>
          </a:prstGeom>
          <a:noFill/>
          <a:ln/>
        </p:spPr>
        <p:txBody>
          <a:bodyPr wrap="square" lIns="0" tIns="0" rIns="0" bIns="0" rtlCol="0" anchor="t"/>
          <a:lstStyle/>
          <a:p>
            <a:pPr algn="l" indent="0" marL="0">
              <a:buNone/>
            </a:pPr>
            <a:r>
              <a:rPr lang="en-US" sz="1200" dirty="0">
                <a:solidFill>
                  <a:srgbClr val="1A1A1A"/>
                </a:solidFill>
                <a:latin typeface="Calibri" pitchFamily="34" charset="0"/>
                <a:ea typeface="Calibri" pitchFamily="34" charset="-122"/>
                <a:cs typeface="Calibri" pitchFamily="34" charset="-120"/>
              </a:rPr>
              <a:t>Bootstrap 95% CIs show the top-5 counties statistically clustered — Issaquena's #1 ranking is the best-supported point estimate, but the top-5 are a clustered group of Delta counties, not isolated anomalies.</a:t>
            </a:r>
            <a:endParaRPr lang="en-US" sz="1200" dirty="0"/>
          </a:p>
        </p:txBody>
      </p:sp>
      <p:sp>
        <p:nvSpPr>
          <p:cNvPr id="23" name="Shape 21"/>
          <p:cNvSpPr/>
          <p:nvPr/>
        </p:nvSpPr>
        <p:spPr>
          <a:xfrm>
            <a:off x="502920" y="5212080"/>
            <a:ext cx="11155680" cy="914400"/>
          </a:xfrm>
          <a:prstGeom prst="rect">
            <a:avLst/>
          </a:prstGeom>
          <a:solidFill>
            <a:srgbClr val="E8F0F2"/>
          </a:solidFill>
          <a:ln/>
        </p:spPr>
      </p:sp>
      <p:sp>
        <p:nvSpPr>
          <p:cNvPr id="24" name="Shape 22"/>
          <p:cNvSpPr/>
          <p:nvPr/>
        </p:nvSpPr>
        <p:spPr>
          <a:xfrm>
            <a:off x="502920" y="5212080"/>
            <a:ext cx="73152" cy="914400"/>
          </a:xfrm>
          <a:prstGeom prst="rect">
            <a:avLst/>
          </a:prstGeom>
          <a:solidFill>
            <a:srgbClr val="0D4F5C"/>
          </a:solidFill>
          <a:ln/>
        </p:spPr>
      </p:sp>
      <p:sp>
        <p:nvSpPr>
          <p:cNvPr id="25" name="Text 23"/>
          <p:cNvSpPr/>
          <p:nvPr/>
        </p:nvSpPr>
        <p:spPr>
          <a:xfrm>
            <a:off x="731520" y="5257800"/>
            <a:ext cx="10835640" cy="822960"/>
          </a:xfrm>
          <a:prstGeom prst="rect">
            <a:avLst/>
          </a:prstGeom>
          <a:noFill/>
          <a:ln/>
        </p:spPr>
        <p:txBody>
          <a:bodyPr wrap="square" lIns="0" tIns="0" rIns="0" bIns="0" rtlCol="0" anchor="ctr"/>
          <a:lstStyle/>
          <a:p>
            <a:pPr indent="0" marL="0">
              <a:spcAft>
                <a:spcPts val="200"/>
              </a:spcAft>
              <a:buNone/>
            </a:pPr>
            <a:r>
              <a:rPr lang="en-US" sz="1300" b="1" dirty="0">
                <a:solidFill>
                  <a:srgbClr val="0D4F5C"/>
                </a:solidFill>
                <a:latin typeface="Calibri" pitchFamily="34" charset="0"/>
                <a:ea typeface="Calibri" pitchFamily="34" charset="-122"/>
                <a:cs typeface="Calibri" pitchFamily="34" charset="-120"/>
              </a:rPr>
              <a:t>Happy to take questions.</a:t>
            </a:r>
            <a:endParaRPr lang="en-US" sz="1300" dirty="0"/>
          </a:p>
          <a:p>
            <a:pPr indent="0" marL="0">
              <a:spcAft>
                <a:spcPts val="200"/>
              </a:spcAft>
              <a:buNone/>
            </a:pPr>
            <a:r>
              <a:rPr lang="en-US" sz="1300" dirty="0">
                <a:solidFill>
                  <a:srgbClr val="1A1A1A"/>
                </a:solidFill>
                <a:latin typeface="Calibri" pitchFamily="34" charset="0"/>
                <a:ea typeface="Calibri" pitchFamily="34" charset="-122"/>
                <a:cs typeface="Calibri" pitchFamily="34" charset="-120"/>
              </a:rPr>
              <a:t>  Full decision log in DECISIONS.md (D-001 through D-019). Pipeline reproducibility verified end-to-end. Database queries available for live exploration.</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Mississippi Health Equity Gap Index</dc:title>
  <dc:subject>Gulf South Center Round 1 Hackathon Submission</dc:subject>
  <dc:creator>Nhoojah Maharjan</dc:creator>
  <cp:lastModifiedBy>Nhoojah Maharjan</cp:lastModifiedBy>
  <cp:revision>1</cp:revision>
  <dcterms:created xsi:type="dcterms:W3CDTF">2026-05-17T20:21:50Z</dcterms:created>
  <dcterms:modified xsi:type="dcterms:W3CDTF">2026-05-17T20:21:50Z</dcterms:modified>
</cp:coreProperties>
</file>