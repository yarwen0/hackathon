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A1612"/>
                </a:solidFill>
                <a:latin typeface="Georgia"/>
              </a:rPr>
              <a:t>EGI Workbench.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3749039"/>
            <a:ext cx="1828800" cy="0"/>
          </a:xfrm>
          <a:prstGeom prst="line">
            <a:avLst/>
          </a:prstGeom>
          <a:ln w="19050">
            <a:solidFill>
              <a:srgbClr val="8B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3977639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1A1612"/>
                </a:solidFill>
                <a:latin typeface="Georgia"/>
              </a:rPr>
              <a:t>A research decision-support tool built on the Mississippi</a:t>
            </a:r>
          </a:p>
          <a:p>
            <a:pPr algn="l"/>
            <a:r>
              <a:rPr sz="2400" b="0" i="1">
                <a:solidFill>
                  <a:srgbClr val="1A1612"/>
                </a:solidFill>
                <a:latin typeface="Georgia"/>
              </a:rPr>
              <a:t>Health Equity Gap Index.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Helvetica Neue"/>
              </a:rPr>
              <a:t>Nhoojah Maharjan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May 26, 2026 · USM Asbury Hall 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2636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1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035040"/>
            <a:ext cx="45720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000" b="1">
                <a:solidFill>
                  <a:srgbClr val="6B6258"/>
                </a:solidFill>
                <a:latin typeface="Helvetica Neue"/>
              </a:rPr>
              <a:t>LIVE: </a:t>
            </a:r>
            <a:r>
              <a:rPr sz="1000">
                <a:solidFill>
                  <a:srgbClr val="8B1E1E"/>
                </a:solidFill>
                <a:latin typeface="Menlo"/>
              </a:rPr>
              <a:t>app-two-pi-29.vercel.app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THE PROBLEM WE CHOSE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A1612"/>
                </a:solidFill>
                <a:latin typeface="Georgia"/>
              </a:rPr>
              <a:t>Mississippi's worst-county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Mississippi ranks worst in the US on most major state health rankings.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Round 1 produced the Mississippi Health Equity Gap Index — a county-level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composite ranking all 82 counties on disease burden (CDC PLACES), provider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capacity (CMS NPPES + Census ACS), and social vulnerability (CDC/ATSDR SVI).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Issaquena County ranked #1. Independently a federally-designated HPSA —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the math reproduced what the federal designation already said.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But ranking alone doesn't solve a problem.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The Gulf South Center has to decide where to invest.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743200"/>
            <a:ext cx="38404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8B1E1E"/>
                </a:solidFill>
                <a:latin typeface="Georgia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3891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MS counties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5488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9 tables · 19 documented decisions · 5 federal 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TARGET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A1612"/>
                </a:solidFill>
                <a:latin typeface="Georgia"/>
              </a:rPr>
              <a:t>Sarah Chen, Program Officer.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Sarah works at the Gulf South Center for Community-Engaged Health Research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and Innovation.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She has a Tuesday meeting with a private foundation considering a $2M rural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health investment in Mississippi.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She needs to walk in with defensible county-level evidence: which counties,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why those, what's the methodology, what are the alternative interpretations,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and what's the audit trail back to source data.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Three roles model the Center's actual structure — Program Officer,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Methodology Steward, External Collaborator.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743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B6258"/>
                </a:solidFill>
                <a:latin typeface="Helvetica Neue"/>
              </a:rPr>
              <a:t>ROLES IN THE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24612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B1E1E"/>
                </a:solidFill>
                <a:latin typeface="Georgia"/>
              </a:rPr>
              <a:t>Program Officer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56616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Builds cohorts. PDF reports. Cannot edit methodology.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16052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B1E1E"/>
                </a:solidFill>
                <a:latin typeface="Georgia"/>
              </a:rPr>
              <a:t>Methodology Steward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480559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Officer permissions + edit data sources, decisions.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507492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B1E1E"/>
                </a:solidFill>
                <a:latin typeface="Georgia"/>
              </a:rPr>
              <a:t>External Collaborator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394959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Read-only. Banner: viewing as collaborator.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APPLICATION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Seven surfaces. One AI page.</a:t>
            </a:r>
          </a:p>
        </p:txBody>
      </p:sp>
      <p:pic>
        <p:nvPicPr>
          <p:cNvPr id="7" name="Picture 6" descr="round2_02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3566160" cy="11572684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4535423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Landing / Map</a:t>
            </a:r>
          </a:p>
        </p:txBody>
      </p:sp>
      <p:pic>
        <p:nvPicPr>
          <p:cNvPr id="9" name="Picture 8" descr="round2_03-county-issaque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06040"/>
            <a:ext cx="3566160" cy="4965382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26280" y="4535423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County Drilldown</a:t>
            </a:r>
          </a:p>
        </p:txBody>
      </p:sp>
      <p:pic>
        <p:nvPicPr>
          <p:cNvPr id="11" name="Picture 10" descr="round2_05b-cohort-del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606040"/>
            <a:ext cx="3566160" cy="4034218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412480" y="4535423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Cohort Builder</a:t>
            </a:r>
          </a:p>
        </p:txBody>
      </p:sp>
      <p:pic>
        <p:nvPicPr>
          <p:cNvPr id="13" name="Picture 12" descr="round2_06-qua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983479"/>
            <a:ext cx="3566160" cy="4383405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40080" y="691286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Quadrant Explorer</a:t>
            </a:r>
          </a:p>
        </p:txBody>
      </p:sp>
      <p:pic>
        <p:nvPicPr>
          <p:cNvPr id="15" name="Picture 14" descr="round2_07-rewe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4983479"/>
            <a:ext cx="3566160" cy="3962400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526280" y="691286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Reweight Lab</a:t>
            </a:r>
          </a:p>
        </p:txBody>
      </p:sp>
      <p:pic>
        <p:nvPicPr>
          <p:cNvPr id="17" name="Picture 16" descr="round2_09-as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4983479"/>
            <a:ext cx="3566160" cy="3090672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8412480" y="691286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Ask the EGI (AI)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DEMO · LANDING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Where the gap is largest.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1 in 5 Mississippi counties scores in the top quintile of underservedness.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All 5 of the top 5 are in the Delta.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Filter the 82 counties by region, rurality, quintile, or full-text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search. The map dims (never hides) non-matches; the leaderboard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re-sorts in real time; URL search params keep state shareable.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Click any county to drill 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B1E1E"/>
                </a:solidFill>
                <a:latin typeface="Helvetica Neue"/>
              </a:rPr>
              <a:t>HEADLINE FROM 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Issaquena County (pop 1,206) ranks #1 with EGI 87.4 — high on all three</a:t>
            </a:r>
          </a:p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pillars simultaneously. Independently a federally-designated HPSA — the</a:t>
            </a:r>
          </a:p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math reproduced what the federal designation already said.</a:t>
            </a:r>
          </a:p>
        </p:txBody>
      </p:sp>
      <p:pic>
        <p:nvPicPr>
          <p:cNvPr id="10" name="Picture 9" descr="round2_02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417320"/>
            <a:ext cx="4023360" cy="13056362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DEMO · COUNTY DRILLDOWN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Every number, traceable.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Header with rank, score, quintile. Component breakdown with state-mean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tick lines. Top burden drivers showing which PLACES measures most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exceed the state average for this county. Provider mix by HRSA taxonomy.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Every metric has an ℹ icon — click for source, decision rationale,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and the SQL snippet that produced the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B1E1E"/>
                </a:solidFill>
                <a:latin typeface="Helvetica Neue"/>
              </a:rPr>
              <a:t>ISSAQUENA, FOR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7492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"Issaquena has zero attributed primary-care providers across all six</a:t>
            </a:r>
          </a:p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HRSA taxonomies — a structural healthcare-access gap."</a:t>
            </a:r>
          </a:p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/>
            </a:r>
          </a:p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Generated dynamically from data by lib/insights.ts.</a:t>
            </a:r>
          </a:p>
        </p:txBody>
      </p:sp>
      <p:pic>
        <p:nvPicPr>
          <p:cNvPr id="10" name="Picture 9" descr="round2_03-county-issaqu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417320"/>
            <a:ext cx="4023360" cy="5601970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DEMO · COHORT BUILDER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Assemble a cohort.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71323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Stack structural filters — region, rurality, EGI score range, all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three component ranges, population, advanced burden thresholds like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diabetes ≥ 15%.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Live county count. Median EGI vs state. Dominant SVI theme.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Top burden driver across the cohort.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Officer / Steward roles can Save &amp; Share — saves the criteria to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Vercel KV and returns a share token that any role can open.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PDF Report generates a foundation-ready document with embedded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methodology, county table, and the source SQL in the appendix.</a:t>
            </a:r>
          </a:p>
        </p:txBody>
      </p:sp>
      <p:pic>
        <p:nvPicPr>
          <p:cNvPr id="8" name="Picture 7" descr="round2_05b-cohort-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417320"/>
            <a:ext cx="4023360" cy="4551426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DEMO · REWEIGHT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Stress-test the methodology.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713232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Three sum-constrained sliders — burden / capacity / vulnerability.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Drag one, the other two redistribute proportionally.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Server runs a parameterized re-ranking against the read-only DB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(inlined view CTE chain with ? placeholders — never string concat)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and returns the new top-10 + rank changes in under 200ms.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The headline indicator answers the killer Q&amp;A question: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Is Issaquena's #1 robust to alternative weightings?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B1E1E"/>
                </a:solidFill>
                <a:latin typeface="Helvetica Neue"/>
              </a:rPr>
              <a:t>DEMO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Drag vulnerability to 100%. The top reshuffles. Sarah can now tell the</a:t>
            </a:r>
          </a:p>
          <a:p>
            <a:pPr algn="l"/>
            <a:r>
              <a:rPr sz="1300" b="0" i="1">
                <a:solidFill>
                  <a:srgbClr val="1A1612"/>
                </a:solidFill>
                <a:latin typeface="Georgia"/>
              </a:rPr>
              <a:t>foundation: "Issaquena holds under most weightings — except pure-vuln."</a:t>
            </a:r>
          </a:p>
        </p:txBody>
      </p:sp>
      <p:pic>
        <p:nvPicPr>
          <p:cNvPr id="10" name="Picture 9" descr="round2_07-re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417320"/>
            <a:ext cx="4023360" cy="4470400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DEMO · ASK THE EGI (AI)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AI with three layers of defense.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A1612"/>
                </a:solidFill>
                <a:latin typeface="Helvetica Neue"/>
              </a:rPr>
              <a:t>Natural-language → SQL via Groq Llama 3.3 70B. The SQL is shown</a:t>
            </a:r>
          </a:p>
          <a:p>
            <a:pPr algn="l"/>
            <a:r>
              <a:rPr sz="1200" b="0" i="0">
                <a:solidFill>
                  <a:srgbClr val="1A1612"/>
                </a:solidFill>
                <a:latin typeface="Helvetica Neue"/>
              </a:rPr>
              <a:t>before the result — that's the transparency mechanism.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B1E1E"/>
                </a:solidFill>
                <a:latin typeface="Helvetica Neue"/>
              </a:rPr>
              <a:t>HOW IT'S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Helvetica Neue"/>
              </a:rPr>
              <a:t>1. System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38727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258"/>
                </a:solidFill>
                <a:latin typeface="Helvetica Neue"/>
              </a:rPr>
              <a:t>Restricts the LLM to SELECT-only on 9 whitelisted tables + the EGI 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Helvetica Neue"/>
              </a:rPr>
              <a:t>2. Server 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07408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258"/>
                </a:solidFill>
                <a:latin typeface="Helvetica Neue"/>
              </a:rPr>
              <a:t>Regex rejects non-SELECT, multi-statement, comments, forbidden keywords.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8348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612"/>
                </a:solidFill>
                <a:latin typeface="Helvetica Neue"/>
              </a:rPr>
              <a:t>3. Read-only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76088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258"/>
                </a:solidFill>
                <a:latin typeface="Helvetica Neue"/>
              </a:rPr>
              <a:t>better-sqlite3 connection opened with readonly: true. Even a query that bypassed the validators couldn't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1612"/>
                </a:solidFill>
                <a:latin typeface="Georgia"/>
              </a:rPr>
              <a:t>Plus 5 starter chips with hand-written SQL — the demo-day safety net.</a:t>
            </a:r>
          </a:p>
          <a:p>
            <a:pPr algn="l"/>
            <a:r>
              <a:rPr sz="1100" b="0" i="1">
                <a:solidFill>
                  <a:srgbClr val="1A1612"/>
                </a:solidFill>
                <a:latin typeface="Georgia"/>
              </a:rPr>
              <a:t>If Groq is down or rate-limited, the chips still work.</a:t>
            </a:r>
          </a:p>
        </p:txBody>
      </p:sp>
      <p:pic>
        <p:nvPicPr>
          <p:cNvPr id="16" name="Picture 15" descr="round2_09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417320"/>
            <a:ext cx="4023360" cy="3486912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DEMO ·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The headline is robust.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71323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Three weighting schemes side-by-side: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    Equal thirds (default — Round 1)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    Data-driven PCA (first principal component of the 3-component matrix)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    Burden-weighted (50/30/20 — a plausible foundation framing)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Six counties appear in every top-10 list — Issaquena, Holmes, Yazoo,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Tunica, Humphreys, Quitman. That's the robust core of the index.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/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Every data source has a card: vintage, retrieval date, rows loaded,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source URL. Stewardship view (steward role only) for editing the</a:t>
            </a:r>
          </a:p>
          <a:p>
            <a:pPr algn="l"/>
            <a:r>
              <a:rPr sz="1300" b="0" i="0">
                <a:solidFill>
                  <a:srgbClr val="1A1612"/>
                </a:solidFill>
                <a:latin typeface="Helvetica Neue"/>
              </a:rPr>
              <a:t>metadata in production.</a:t>
            </a:r>
          </a:p>
        </p:txBody>
      </p:sp>
      <p:pic>
        <p:nvPicPr>
          <p:cNvPr id="8" name="Picture 7" descr="round2_08-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417320"/>
            <a:ext cx="4023360" cy="8432292"/>
          </a:xfrm>
          <a:prstGeom prst="rect">
            <a:avLst/>
          </a:prstGeom>
          <a:ln w="6350">
            <a:solidFill>
              <a:srgbClr val="CBC4B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1A1612"/>
                </a:solidFill>
                <a:latin typeface="Georgia"/>
              </a:rPr>
              <a:t>Right tool, right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B1E1E"/>
                </a:solidFill>
                <a:latin typeface="Helvetica Neue"/>
              </a:rPr>
              <a:t>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5146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Next.js 15 App Router · Node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0720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807208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TypeScript strict — end-to-end typed APIs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99815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Primary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099815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SQLite via better-sqlite3 (readonly: true)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92423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Cache /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3392423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Vercel KV (Redis) · in-memory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85031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Styling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685031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Tailwind · custom CSS vars · editorial palette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77639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Charts /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977639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Recharts · react-leaflet · d3-geo (for PDF)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7024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PDF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270248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@react-pdf/renderer — embedded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6285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56285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Groq SDK · Llama 3.3 70B Versatile (free tier)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554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Auth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855464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Custom sessions · scrypt · HMAC cookies · KV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4807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612"/>
                </a:solidFill>
                <a:latin typeface="Helvetica Neue"/>
              </a:rPr>
              <a:t>Fonts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148072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Fraunces + IBM Plex Sans + IBM Plex Mono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8B1E1E"/>
                </a:solidFill>
                <a:latin typeface="Helvetica Neue"/>
              </a:rPr>
              <a:t>SCALE 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5146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Helvetica Neue"/>
              </a:rPr>
              <a:t>Add another state (Alabama)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807208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Re-run load_data.py with state_fips='01'. Frontend works unchanged.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66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Helvetica Neue"/>
              </a:rPr>
              <a:t>Scale to national (3,143 counties)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858768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SQLite holds to 100k rows. We're at 12k — 8x headroom. Beyond that, swap lib/db.ts for pg.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617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Helvetica Neue"/>
              </a:rPr>
              <a:t>Time-series support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910328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Add snapshot_year column. Parameterize the view. Swap headline cards for sparklines.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66927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612"/>
                </a:solidFill>
                <a:latin typeface="Helvetica Neue"/>
              </a:rPr>
              <a:t>Real-time / live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961888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6258"/>
                </a:solidFill>
                <a:latin typeface="Helvetica Neue"/>
              </a:rPr>
              <a:t>Wrong primitive for annual federal data. Architecture supports WebSocket if ever needed.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612"/>
                </a:solidFill>
                <a:latin typeface="Helvetica Neue"/>
              </a:rPr>
              <a:t>EGI WORKBENCH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6258"/>
                </a:solidFill>
                <a:latin typeface="Helvetica Neue"/>
              </a:rPr>
              <a:t>Gulf South Center · Hackathon Round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777240"/>
            <a:ext cx="11247120" cy="0"/>
          </a:xfrm>
          <a:prstGeom prst="line">
            <a:avLst/>
          </a:prstGeom>
          <a:ln w="6350">
            <a:solidFill>
              <a:srgbClr val="1A16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371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B1E1E"/>
                </a:solidFill>
                <a:latin typeface="Helvetica Neue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6B6258"/>
                </a:solidFill>
                <a:latin typeface="Georgia"/>
              </a:rPr>
              <a:t>Round 1 produced the index.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A1612"/>
                </a:solidFill>
                <a:latin typeface="Georgia"/>
              </a:rPr>
              <a:t>Round 2 produced the tool.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14800"/>
            <a:ext cx="1828800" cy="0"/>
          </a:xfrm>
          <a:prstGeom prst="line">
            <a:avLst/>
          </a:prstGeom>
          <a:ln w="25400">
            <a:solidFill>
              <a:srgbClr val="8B1E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1">
                <a:solidFill>
                  <a:srgbClr val="8B1E1E"/>
                </a:solidFill>
                <a:latin typeface="Georgia"/>
              </a:rPr>
              <a:t>We'd like to put this in front of the Center.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6258"/>
                </a:solidFill>
                <a:latin typeface="Helvetica Neue"/>
              </a:rPr>
              <a:t>DATA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CDC PLACES 2023 · CDC/ATSDR SVI 2022 · CMS NPPES May 2026 ·</a:t>
            </a:r>
          </a:p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US Census ACS 2018–2022 5-year · US Census 2020 ZCTA crosswalk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58521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6B6258"/>
                </a:solidFill>
                <a:latin typeface="Helvetica Neue"/>
              </a:rPr>
              <a:t>BUILT WITH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612648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Next.js 15 · TypeScript · SQLite · Vercel KV ·</a:t>
            </a:r>
          </a:p>
          <a:p>
            <a:pPr algn="l"/>
            <a:r>
              <a:rPr sz="900" b="0" i="0">
                <a:solidFill>
                  <a:srgbClr val="6B6258"/>
                </a:solidFill>
                <a:latin typeface="Helvetica Neue"/>
              </a:rPr>
              <a:t>Recharts · react-leaflet · Groq · Tailwind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0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6258"/>
                </a:solidFill>
                <a:latin typeface="Menlo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